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Montserrat Bold" charset="1" panose="00000800000000000000"/>
      <p:regular r:id="rId45"/>
    </p:embeddedFont>
    <p:embeddedFont>
      <p:font typeface="Aileron Bold" charset="1" panose="00000800000000000000"/>
      <p:regular r:id="rId46"/>
    </p:embeddedFont>
    <p:embeddedFont>
      <p:font typeface="Aileron" charset="1" panose="00000500000000000000"/>
      <p:regular r:id="rId47"/>
    </p:embeddedFont>
    <p:embeddedFont>
      <p:font typeface="Noto Serif Display" charset="1" panose="02020502080505020204"/>
      <p:regular r:id="rId48"/>
    </p:embeddedFont>
    <p:embeddedFont>
      <p:font typeface="Montserrat" charset="1" panose="00000500000000000000"/>
      <p:regular r:id="rId49"/>
    </p:embeddedFont>
    <p:embeddedFont>
      <p:font typeface="Montserrat Italics" charset="1" panose="00000500000000000000"/>
      <p:regular r:id="rId50"/>
    </p:embeddedFont>
    <p:embeddedFont>
      <p:font typeface="Montserrat Bold Italics" charset="1" panose="00000800000000000000"/>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7138" y="206875"/>
            <a:ext cx="6049169" cy="1240080"/>
          </a:xfrm>
          <a:custGeom>
            <a:avLst/>
            <a:gdLst/>
            <a:ahLst/>
            <a:cxnLst/>
            <a:rect r="r" b="b" t="t" l="l"/>
            <a:pathLst>
              <a:path h="1240080" w="6049169">
                <a:moveTo>
                  <a:pt x="0" y="0"/>
                </a:moveTo>
                <a:lnTo>
                  <a:pt x="6049169" y="0"/>
                </a:lnTo>
                <a:lnTo>
                  <a:pt x="6049169" y="1240079"/>
                </a:lnTo>
                <a:lnTo>
                  <a:pt x="0" y="1240079"/>
                </a:lnTo>
                <a:lnTo>
                  <a:pt x="0" y="0"/>
                </a:lnTo>
                <a:close/>
              </a:path>
            </a:pathLst>
          </a:custGeom>
          <a:blipFill>
            <a:blip r:embed="rId2"/>
            <a:stretch>
              <a:fillRect l="0" t="0" r="0" b="0"/>
            </a:stretch>
          </a:blipFill>
        </p:spPr>
      </p:sp>
      <p:grpSp>
        <p:nvGrpSpPr>
          <p:cNvPr name="Group 3" id="3"/>
          <p:cNvGrpSpPr/>
          <p:nvPr/>
        </p:nvGrpSpPr>
        <p:grpSpPr>
          <a:xfrm rot="0">
            <a:off x="0" y="1737364"/>
            <a:ext cx="18288000" cy="4723221"/>
            <a:chOff x="0" y="0"/>
            <a:chExt cx="4816593" cy="1243976"/>
          </a:xfrm>
        </p:grpSpPr>
        <p:sp>
          <p:nvSpPr>
            <p:cNvPr name="Freeform 4" id="4"/>
            <p:cNvSpPr/>
            <p:nvPr/>
          </p:nvSpPr>
          <p:spPr>
            <a:xfrm flipH="false" flipV="false" rot="0">
              <a:off x="0" y="0"/>
              <a:ext cx="4816592" cy="1243976"/>
            </a:xfrm>
            <a:custGeom>
              <a:avLst/>
              <a:gdLst/>
              <a:ahLst/>
              <a:cxnLst/>
              <a:rect r="r" b="b" t="t" l="l"/>
              <a:pathLst>
                <a:path h="1243976" w="4816592">
                  <a:moveTo>
                    <a:pt x="0" y="0"/>
                  </a:moveTo>
                  <a:lnTo>
                    <a:pt x="4816592" y="0"/>
                  </a:lnTo>
                  <a:lnTo>
                    <a:pt x="4816592" y="1243976"/>
                  </a:lnTo>
                  <a:lnTo>
                    <a:pt x="0" y="1243976"/>
                  </a:lnTo>
                  <a:close/>
                </a:path>
              </a:pathLst>
            </a:custGeom>
            <a:solidFill>
              <a:srgbClr val="DD4904"/>
            </a:solidFill>
          </p:spPr>
        </p:sp>
        <p:sp>
          <p:nvSpPr>
            <p:cNvPr name="TextBox 5" id="5"/>
            <p:cNvSpPr txBox="true"/>
            <p:nvPr/>
          </p:nvSpPr>
          <p:spPr>
            <a:xfrm>
              <a:off x="0" y="-38100"/>
              <a:ext cx="4816593" cy="1282076"/>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0" y="9594948"/>
            <a:ext cx="18288000" cy="0"/>
          </a:xfrm>
          <a:prstGeom prst="line">
            <a:avLst/>
          </a:prstGeom>
          <a:ln cap="flat" w="38100">
            <a:solidFill>
              <a:srgbClr val="DD4904"/>
            </a:solidFill>
            <a:prstDash val="solid"/>
            <a:headEnd type="none" len="sm" w="sm"/>
            <a:tailEnd type="none" len="sm" w="sm"/>
          </a:ln>
        </p:spPr>
      </p:sp>
      <p:sp>
        <p:nvSpPr>
          <p:cNvPr name="TextBox 7" id="7"/>
          <p:cNvSpPr txBox="true"/>
          <p:nvPr/>
        </p:nvSpPr>
        <p:spPr>
          <a:xfrm rot="0">
            <a:off x="0" y="3190923"/>
            <a:ext cx="18288000" cy="1730377"/>
          </a:xfrm>
          <a:prstGeom prst="rect">
            <a:avLst/>
          </a:prstGeom>
        </p:spPr>
        <p:txBody>
          <a:bodyPr anchor="t" rtlCol="false" tIns="0" lIns="0" bIns="0" rIns="0">
            <a:spAutoFit/>
          </a:bodyPr>
          <a:lstStyle/>
          <a:p>
            <a:pPr algn="ctr">
              <a:lnSpc>
                <a:spcPts val="6999"/>
              </a:lnSpc>
              <a:spcBef>
                <a:spcPct val="0"/>
              </a:spcBef>
            </a:pPr>
            <a:r>
              <a:rPr lang="en-US" b="true" sz="4999">
                <a:solidFill>
                  <a:srgbClr val="FFFFFF"/>
                </a:solidFill>
                <a:latin typeface="Montserrat Bold"/>
                <a:ea typeface="Montserrat Bold"/>
                <a:cs typeface="Montserrat Bold"/>
                <a:sym typeface="Montserrat Bold"/>
              </a:rPr>
              <a:t>Nghiên cứu và xây dựng mô hình học máy phát hiện bất thường dựa trên nhật ký hệ thống</a:t>
            </a:r>
          </a:p>
        </p:txBody>
      </p:sp>
      <p:sp>
        <p:nvSpPr>
          <p:cNvPr name="TextBox 8" id="8"/>
          <p:cNvSpPr txBox="true"/>
          <p:nvPr/>
        </p:nvSpPr>
        <p:spPr>
          <a:xfrm rot="0">
            <a:off x="582091" y="6784435"/>
            <a:ext cx="17123819" cy="2227580"/>
          </a:xfrm>
          <a:prstGeom prst="rect">
            <a:avLst/>
          </a:prstGeom>
        </p:spPr>
        <p:txBody>
          <a:bodyPr anchor="t" rtlCol="false" tIns="0" lIns="0" bIns="0" rIns="0">
            <a:spAutoFit/>
          </a:bodyPr>
          <a:lstStyle/>
          <a:p>
            <a:pPr algn="ctr">
              <a:lnSpc>
                <a:spcPts val="4359"/>
              </a:lnSpc>
            </a:pPr>
            <a:r>
              <a:rPr lang="en-US" b="true" sz="3999" spc="187">
                <a:solidFill>
                  <a:srgbClr val="000000"/>
                </a:solidFill>
                <a:latin typeface="Aileron Bold"/>
                <a:ea typeface="Aileron Bold"/>
                <a:cs typeface="Aileron Bold"/>
                <a:sym typeface="Aileron Bold"/>
              </a:rPr>
              <a:t>Thành viên nhóm 03</a:t>
            </a:r>
          </a:p>
          <a:p>
            <a:pPr algn="ctr">
              <a:lnSpc>
                <a:spcPts val="4359"/>
              </a:lnSpc>
            </a:pPr>
            <a:r>
              <a:rPr lang="en-US" sz="3999" spc="187">
                <a:solidFill>
                  <a:srgbClr val="000000"/>
                </a:solidFill>
                <a:latin typeface="Aileron"/>
                <a:ea typeface="Aileron"/>
                <a:cs typeface="Aileron"/>
                <a:sym typeface="Aileron"/>
              </a:rPr>
              <a:t>Nguyễn Huy Hoàng - B23DCAT112</a:t>
            </a:r>
          </a:p>
          <a:p>
            <a:pPr algn="ctr">
              <a:lnSpc>
                <a:spcPts val="4359"/>
              </a:lnSpc>
            </a:pPr>
            <a:r>
              <a:rPr lang="en-US" sz="3999" spc="187">
                <a:solidFill>
                  <a:srgbClr val="000000"/>
                </a:solidFill>
                <a:latin typeface="Aileron"/>
                <a:ea typeface="Aileron"/>
                <a:cs typeface="Aileron"/>
                <a:sym typeface="Aileron"/>
              </a:rPr>
              <a:t>Đỗ Trung Kiên - B23DCAT156</a:t>
            </a:r>
          </a:p>
          <a:p>
            <a:pPr algn="ctr">
              <a:lnSpc>
                <a:spcPts val="4359"/>
              </a:lnSpc>
            </a:pPr>
            <a:r>
              <a:rPr lang="en-US" sz="3999" spc="187">
                <a:solidFill>
                  <a:srgbClr val="000000"/>
                </a:solidFill>
                <a:latin typeface="Aileron"/>
                <a:ea typeface="Aileron"/>
                <a:cs typeface="Aileron"/>
                <a:sym typeface="Aileron"/>
              </a:rPr>
              <a:t>Hà Duy Long - B23DCAT172</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4435362" cy="10287000"/>
            <a:chOff x="0" y="0"/>
            <a:chExt cx="1168161" cy="2709333"/>
          </a:xfrm>
        </p:grpSpPr>
        <p:sp>
          <p:nvSpPr>
            <p:cNvPr name="Freeform 3" id="3"/>
            <p:cNvSpPr/>
            <p:nvPr/>
          </p:nvSpPr>
          <p:spPr>
            <a:xfrm flipH="false" flipV="false" rot="0">
              <a:off x="0" y="0"/>
              <a:ext cx="1168161" cy="2709333"/>
            </a:xfrm>
            <a:custGeom>
              <a:avLst/>
              <a:gdLst/>
              <a:ahLst/>
              <a:cxnLst/>
              <a:rect r="r" b="b" t="t" l="l"/>
              <a:pathLst>
                <a:path h="2709333" w="1168161">
                  <a:moveTo>
                    <a:pt x="0" y="0"/>
                  </a:moveTo>
                  <a:lnTo>
                    <a:pt x="1168161" y="0"/>
                  </a:lnTo>
                  <a:lnTo>
                    <a:pt x="1168161" y="2709333"/>
                  </a:lnTo>
                  <a:lnTo>
                    <a:pt x="0" y="2709333"/>
                  </a:lnTo>
                  <a:close/>
                </a:path>
              </a:pathLst>
            </a:custGeom>
            <a:solidFill>
              <a:srgbClr val="DD4904"/>
            </a:solidFill>
          </p:spPr>
        </p:sp>
        <p:sp>
          <p:nvSpPr>
            <p:cNvPr name="TextBox 4" id="4"/>
            <p:cNvSpPr txBox="true"/>
            <p:nvPr/>
          </p:nvSpPr>
          <p:spPr>
            <a:xfrm>
              <a:off x="0" y="-38100"/>
              <a:ext cx="1168161"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85619" y="4298948"/>
            <a:ext cx="3464123" cy="844552"/>
          </a:xfrm>
          <a:prstGeom prst="rect">
            <a:avLst/>
          </a:prstGeom>
        </p:spPr>
        <p:txBody>
          <a:bodyPr anchor="t" rtlCol="false" tIns="0" lIns="0" bIns="0" rIns="0">
            <a:spAutoFit/>
          </a:bodyPr>
          <a:lstStyle/>
          <a:p>
            <a:pPr algn="ctr">
              <a:lnSpc>
                <a:spcPts val="6999"/>
              </a:lnSpc>
              <a:spcBef>
                <a:spcPct val="0"/>
              </a:spcBef>
            </a:pPr>
            <a:r>
              <a:rPr lang="en-US" b="true" sz="4999">
                <a:solidFill>
                  <a:srgbClr val="FFFFFF"/>
                </a:solidFill>
                <a:latin typeface="Montserrat Bold"/>
                <a:ea typeface="Montserrat Bold"/>
                <a:cs typeface="Montserrat Bold"/>
                <a:sym typeface="Montserrat Bold"/>
              </a:rPr>
              <a:t>NỘI DUNG</a:t>
            </a:r>
          </a:p>
        </p:txBody>
      </p:sp>
      <p:grpSp>
        <p:nvGrpSpPr>
          <p:cNvPr name="Group 6" id="6"/>
          <p:cNvGrpSpPr/>
          <p:nvPr/>
        </p:nvGrpSpPr>
        <p:grpSpPr>
          <a:xfrm rot="0">
            <a:off x="5079431" y="4764086"/>
            <a:ext cx="11975369" cy="1466852"/>
            <a:chOff x="0" y="0"/>
            <a:chExt cx="15967159" cy="1955802"/>
          </a:xfrm>
        </p:grpSpPr>
        <p:grpSp>
          <p:nvGrpSpPr>
            <p:cNvPr name="Group 7" id="7"/>
            <p:cNvGrpSpPr/>
            <p:nvPr/>
          </p:nvGrpSpPr>
          <p:grpSpPr>
            <a:xfrm rot="0">
              <a:off x="0" y="181697"/>
              <a:ext cx="1774105" cy="177410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4904"/>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5599"/>
                  </a:lnSpc>
                </a:pPr>
                <a:r>
                  <a:rPr lang="en-US" b="true" sz="3999">
                    <a:solidFill>
                      <a:srgbClr val="FFFFFF"/>
                    </a:solidFill>
                    <a:latin typeface="Montserrat Bold"/>
                    <a:ea typeface="Montserrat Bold"/>
                    <a:cs typeface="Montserrat Bold"/>
                    <a:sym typeface="Montserrat Bold"/>
                  </a:rPr>
                  <a:t>02</a:t>
                </a:r>
              </a:p>
            </p:txBody>
          </p:sp>
        </p:grpSp>
        <p:sp>
          <p:nvSpPr>
            <p:cNvPr name="TextBox 10" id="10"/>
            <p:cNvSpPr txBox="true"/>
            <p:nvPr/>
          </p:nvSpPr>
          <p:spPr>
            <a:xfrm rot="0">
              <a:off x="2639179" y="-76200"/>
              <a:ext cx="13327979" cy="2032002"/>
            </a:xfrm>
            <a:prstGeom prst="rect">
              <a:avLst/>
            </a:prstGeom>
          </p:spPr>
          <p:txBody>
            <a:bodyPr anchor="t" rtlCol="false" tIns="0" lIns="0" bIns="0" rIns="0">
              <a:spAutoFit/>
            </a:bodyPr>
            <a:lstStyle/>
            <a:p>
              <a:pPr algn="just">
                <a:lnSpc>
                  <a:spcPts val="6299"/>
                </a:lnSpc>
                <a:spcBef>
                  <a:spcPct val="0"/>
                </a:spcBef>
              </a:pPr>
              <a:r>
                <a:rPr lang="en-US" b="true" sz="4499">
                  <a:solidFill>
                    <a:srgbClr val="D6241E"/>
                  </a:solidFill>
                  <a:latin typeface="Montserrat Bold"/>
                  <a:ea typeface="Montserrat Bold"/>
                  <a:cs typeface="Montserrat Bold"/>
                  <a:sym typeface="Montserrat Bold"/>
                </a:rPr>
                <a:t>Đề xuất mô hình phát hiện bất thường từ nhật ký hệ thống</a:t>
              </a:r>
            </a:p>
          </p:txBody>
        </p:sp>
      </p:grpSp>
      <p:grpSp>
        <p:nvGrpSpPr>
          <p:cNvPr name="Group 11" id="11"/>
          <p:cNvGrpSpPr/>
          <p:nvPr/>
        </p:nvGrpSpPr>
        <p:grpSpPr>
          <a:xfrm rot="0">
            <a:off x="5079431" y="7079330"/>
            <a:ext cx="12250860" cy="1330579"/>
            <a:chOff x="0" y="0"/>
            <a:chExt cx="16334480" cy="1774105"/>
          </a:xfrm>
        </p:grpSpPr>
        <p:grpSp>
          <p:nvGrpSpPr>
            <p:cNvPr name="Group 12" id="12"/>
            <p:cNvGrpSpPr/>
            <p:nvPr/>
          </p:nvGrpSpPr>
          <p:grpSpPr>
            <a:xfrm rot="0">
              <a:off x="0" y="0"/>
              <a:ext cx="1774105" cy="177410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4904"/>
              </a:solidFill>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5599"/>
                  </a:lnSpc>
                </a:pPr>
                <a:r>
                  <a:rPr lang="en-US" b="true" sz="3999">
                    <a:solidFill>
                      <a:srgbClr val="FFFFFF"/>
                    </a:solidFill>
                    <a:latin typeface="Montserrat Bold"/>
                    <a:ea typeface="Montserrat Bold"/>
                    <a:cs typeface="Montserrat Bold"/>
                    <a:sym typeface="Montserrat Bold"/>
                  </a:rPr>
                  <a:t>03</a:t>
                </a:r>
              </a:p>
            </p:txBody>
          </p:sp>
        </p:grpSp>
        <p:sp>
          <p:nvSpPr>
            <p:cNvPr name="TextBox 15" id="15"/>
            <p:cNvSpPr txBox="true"/>
            <p:nvPr/>
          </p:nvSpPr>
          <p:spPr>
            <a:xfrm rot="0">
              <a:off x="2639179" y="360002"/>
              <a:ext cx="13695301" cy="977902"/>
            </a:xfrm>
            <a:prstGeom prst="rect">
              <a:avLst/>
            </a:prstGeom>
          </p:spPr>
          <p:txBody>
            <a:bodyPr anchor="t" rtlCol="false" tIns="0" lIns="0" bIns="0" rIns="0">
              <a:spAutoFit/>
            </a:bodyPr>
            <a:lstStyle/>
            <a:p>
              <a:pPr algn="l">
                <a:lnSpc>
                  <a:spcPts val="6299"/>
                </a:lnSpc>
                <a:spcBef>
                  <a:spcPct val="0"/>
                </a:spcBef>
              </a:pPr>
              <a:r>
                <a:rPr lang="en-US" b="true" sz="4499">
                  <a:solidFill>
                    <a:srgbClr val="D6241E"/>
                  </a:solidFill>
                  <a:latin typeface="Montserrat Bold"/>
                  <a:ea typeface="Montserrat Bold"/>
                  <a:cs typeface="Montserrat Bold"/>
                  <a:sym typeface="Montserrat Bold"/>
                </a:rPr>
                <a:t>Thực nghiệm và đánh giá</a:t>
              </a: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a:t>
            </a:r>
          </a:p>
        </p:txBody>
      </p:sp>
      <p:grpSp>
        <p:nvGrpSpPr>
          <p:cNvPr name="Group 17" id="17"/>
          <p:cNvGrpSpPr/>
          <p:nvPr/>
        </p:nvGrpSpPr>
        <p:grpSpPr>
          <a:xfrm rot="0">
            <a:off x="5079431" y="1922567"/>
            <a:ext cx="11937505" cy="2257427"/>
            <a:chOff x="0" y="0"/>
            <a:chExt cx="15916674" cy="3009902"/>
          </a:xfrm>
        </p:grpSpPr>
        <p:sp>
          <p:nvSpPr>
            <p:cNvPr name="TextBox 18" id="18"/>
            <p:cNvSpPr txBox="true"/>
            <p:nvPr/>
          </p:nvSpPr>
          <p:spPr>
            <a:xfrm rot="0">
              <a:off x="2588694" y="-76200"/>
              <a:ext cx="13327979" cy="3086102"/>
            </a:xfrm>
            <a:prstGeom prst="rect">
              <a:avLst/>
            </a:prstGeom>
          </p:spPr>
          <p:txBody>
            <a:bodyPr anchor="t" rtlCol="false" tIns="0" lIns="0" bIns="0" rIns="0">
              <a:spAutoFit/>
            </a:bodyPr>
            <a:lstStyle/>
            <a:p>
              <a:pPr algn="just">
                <a:lnSpc>
                  <a:spcPts val="6299"/>
                </a:lnSpc>
                <a:spcBef>
                  <a:spcPct val="0"/>
                </a:spcBef>
              </a:pPr>
              <a:r>
                <a:rPr lang="en-US" b="true" sz="4499">
                  <a:solidFill>
                    <a:srgbClr val="D6241E"/>
                  </a:solidFill>
                  <a:latin typeface="Montserrat Bold"/>
                  <a:ea typeface="Montserrat Bold"/>
                  <a:cs typeface="Montserrat Bold"/>
                  <a:sym typeface="Montserrat Bold"/>
                </a:rPr>
                <a:t>Tổng quan về phát hiện bất thường từ nhật ký hệ thống và các phương pháp phát hiện</a:t>
              </a:r>
            </a:p>
          </p:txBody>
        </p:sp>
        <p:grpSp>
          <p:nvGrpSpPr>
            <p:cNvPr name="Group 19" id="19"/>
            <p:cNvGrpSpPr/>
            <p:nvPr/>
          </p:nvGrpSpPr>
          <p:grpSpPr>
            <a:xfrm rot="0">
              <a:off x="0" y="617898"/>
              <a:ext cx="1774105" cy="177410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4904"/>
              </a:solidFill>
            </p:spPr>
          </p:sp>
          <p:sp>
            <p:nvSpPr>
              <p:cNvPr name="TextBox 21" id="21"/>
              <p:cNvSpPr txBox="true"/>
              <p:nvPr/>
            </p:nvSpPr>
            <p:spPr>
              <a:xfrm>
                <a:off x="76200" y="9525"/>
                <a:ext cx="660400" cy="727075"/>
              </a:xfrm>
              <a:prstGeom prst="rect">
                <a:avLst/>
              </a:prstGeom>
            </p:spPr>
            <p:txBody>
              <a:bodyPr anchor="ctr" rtlCol="false" tIns="50800" lIns="50800" bIns="50800" rIns="50800"/>
              <a:lstStyle/>
              <a:p>
                <a:pPr algn="ctr">
                  <a:lnSpc>
                    <a:spcPts val="5599"/>
                  </a:lnSpc>
                </a:pPr>
                <a:r>
                  <a:rPr lang="en-US" b="true" sz="3999">
                    <a:solidFill>
                      <a:srgbClr val="FFFFFF"/>
                    </a:solidFill>
                    <a:latin typeface="Montserrat Bold"/>
                    <a:ea typeface="Montserrat Bold"/>
                    <a:cs typeface="Montserrat Bold"/>
                    <a:sym typeface="Montserrat Bold"/>
                  </a:rPr>
                  <a:t>01</a:t>
                </a:r>
              </a:p>
            </p:txBody>
          </p:sp>
        </p:gr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4435362" cy="10287000"/>
            <a:chOff x="0" y="0"/>
            <a:chExt cx="1168161" cy="2709333"/>
          </a:xfrm>
        </p:grpSpPr>
        <p:sp>
          <p:nvSpPr>
            <p:cNvPr name="Freeform 3" id="3"/>
            <p:cNvSpPr/>
            <p:nvPr/>
          </p:nvSpPr>
          <p:spPr>
            <a:xfrm flipH="false" flipV="false" rot="0">
              <a:off x="0" y="0"/>
              <a:ext cx="1168161" cy="2709333"/>
            </a:xfrm>
            <a:custGeom>
              <a:avLst/>
              <a:gdLst/>
              <a:ahLst/>
              <a:cxnLst/>
              <a:rect r="r" b="b" t="t" l="l"/>
              <a:pathLst>
                <a:path h="2709333" w="1168161">
                  <a:moveTo>
                    <a:pt x="0" y="0"/>
                  </a:moveTo>
                  <a:lnTo>
                    <a:pt x="1168161" y="0"/>
                  </a:lnTo>
                  <a:lnTo>
                    <a:pt x="1168161" y="2709333"/>
                  </a:lnTo>
                  <a:lnTo>
                    <a:pt x="0" y="2709333"/>
                  </a:lnTo>
                  <a:close/>
                </a:path>
              </a:pathLst>
            </a:custGeom>
            <a:solidFill>
              <a:srgbClr val="DD4904"/>
            </a:solidFill>
          </p:spPr>
        </p:sp>
        <p:sp>
          <p:nvSpPr>
            <p:cNvPr name="TextBox 4" id="4"/>
            <p:cNvSpPr txBox="true"/>
            <p:nvPr/>
          </p:nvSpPr>
          <p:spPr>
            <a:xfrm>
              <a:off x="0" y="-38100"/>
              <a:ext cx="1168161"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811925" y="4260848"/>
            <a:ext cx="2811512" cy="1111253"/>
          </a:xfrm>
          <a:prstGeom prst="rect">
            <a:avLst/>
          </a:prstGeom>
        </p:spPr>
        <p:txBody>
          <a:bodyPr anchor="t" rtlCol="false" tIns="0" lIns="0" bIns="0" rIns="0">
            <a:spAutoFit/>
          </a:bodyPr>
          <a:lstStyle/>
          <a:p>
            <a:pPr algn="ctr">
              <a:lnSpc>
                <a:spcPts val="9099"/>
              </a:lnSpc>
              <a:spcBef>
                <a:spcPct val="0"/>
              </a:spcBef>
            </a:pPr>
            <a:r>
              <a:rPr lang="en-US" b="true" sz="6499">
                <a:solidFill>
                  <a:srgbClr val="FFFFFF"/>
                </a:solidFill>
                <a:latin typeface="Montserrat Bold"/>
                <a:ea typeface="Montserrat Bold"/>
                <a:cs typeface="Montserrat Bold"/>
                <a:sym typeface="Montserrat Bold"/>
              </a:rPr>
              <a:t>Phần 1</a:t>
            </a:r>
          </a:p>
        </p:txBody>
      </p:sp>
      <p:sp>
        <p:nvSpPr>
          <p:cNvPr name="TextBox 6" id="6"/>
          <p:cNvSpPr txBox="true"/>
          <p:nvPr/>
        </p:nvSpPr>
        <p:spPr>
          <a:xfrm rot="0">
            <a:off x="5997324" y="2797174"/>
            <a:ext cx="11093353" cy="4568828"/>
          </a:xfrm>
          <a:prstGeom prst="rect">
            <a:avLst/>
          </a:prstGeom>
        </p:spPr>
        <p:txBody>
          <a:bodyPr anchor="t" rtlCol="false" tIns="0" lIns="0" bIns="0" rIns="0">
            <a:spAutoFit/>
          </a:bodyPr>
          <a:lstStyle/>
          <a:p>
            <a:pPr algn="l">
              <a:lnSpc>
                <a:spcPts val="9099"/>
              </a:lnSpc>
              <a:spcBef>
                <a:spcPct val="0"/>
              </a:spcBef>
            </a:pPr>
            <a:r>
              <a:rPr lang="en-US" b="true" sz="6499">
                <a:solidFill>
                  <a:srgbClr val="D6241E"/>
                </a:solidFill>
                <a:latin typeface="Montserrat Bold"/>
                <a:ea typeface="Montserrat Bold"/>
                <a:cs typeface="Montserrat Bold"/>
                <a:sym typeface="Montserrat Bold"/>
              </a:rPr>
              <a:t>Tổng quan về phát hiện bất thường từ nhật ký hệ thống và các phương pháp phát hiện</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760781"/>
            <a:chOff x="0" y="0"/>
            <a:chExt cx="4816593" cy="463745"/>
          </a:xfrm>
        </p:grpSpPr>
        <p:sp>
          <p:nvSpPr>
            <p:cNvPr name="Freeform 3" id="3"/>
            <p:cNvSpPr/>
            <p:nvPr/>
          </p:nvSpPr>
          <p:spPr>
            <a:xfrm flipH="false" flipV="false" rot="0">
              <a:off x="0" y="0"/>
              <a:ext cx="4816592" cy="463745"/>
            </a:xfrm>
            <a:custGeom>
              <a:avLst/>
              <a:gdLst/>
              <a:ahLst/>
              <a:cxnLst/>
              <a:rect r="r" b="b" t="t" l="l"/>
              <a:pathLst>
                <a:path h="463745" w="4816592">
                  <a:moveTo>
                    <a:pt x="0" y="0"/>
                  </a:moveTo>
                  <a:lnTo>
                    <a:pt x="4816592" y="0"/>
                  </a:lnTo>
                  <a:lnTo>
                    <a:pt x="4816592" y="463745"/>
                  </a:lnTo>
                  <a:lnTo>
                    <a:pt x="0" y="463745"/>
                  </a:lnTo>
                  <a:close/>
                </a:path>
              </a:pathLst>
            </a:custGeom>
            <a:solidFill>
              <a:srgbClr val="DD4904"/>
            </a:solidFill>
          </p:spPr>
        </p:sp>
        <p:sp>
          <p:nvSpPr>
            <p:cNvPr name="TextBox 4" id="4"/>
            <p:cNvSpPr txBox="true"/>
            <p:nvPr/>
          </p:nvSpPr>
          <p:spPr>
            <a:xfrm>
              <a:off x="0" y="-38100"/>
              <a:ext cx="4816593" cy="501845"/>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364495" y="70765"/>
            <a:ext cx="16894805" cy="1543052"/>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Tổng quan về phát hiện bất thường từ nhật ký hệ thống và các phương pháp phát hiện</a:t>
            </a:r>
          </a:p>
        </p:txBody>
      </p:sp>
      <p:sp>
        <p:nvSpPr>
          <p:cNvPr name="TextBox 7" id="7"/>
          <p:cNvSpPr txBox="true"/>
          <p:nvPr/>
        </p:nvSpPr>
        <p:spPr>
          <a:xfrm rot="0">
            <a:off x="636969" y="1909283"/>
            <a:ext cx="17135470" cy="4321175"/>
          </a:xfrm>
          <a:prstGeom prst="rect">
            <a:avLst/>
          </a:prstGeom>
        </p:spPr>
        <p:txBody>
          <a:bodyPr anchor="t" rtlCol="false" tIns="0" lIns="0" bIns="0" rIns="0">
            <a:spAutoFit/>
          </a:bodyPr>
          <a:lstStyle/>
          <a:p>
            <a:pPr algn="l">
              <a:lnSpc>
                <a:spcPts val="4900"/>
              </a:lnSpc>
            </a:pPr>
            <a:r>
              <a:rPr lang="en-US" sz="3500">
                <a:solidFill>
                  <a:srgbClr val="D6241E"/>
                </a:solidFill>
                <a:latin typeface="Montserrat"/>
                <a:ea typeface="Montserrat"/>
                <a:cs typeface="Montserrat"/>
                <a:sym typeface="Montserrat"/>
              </a:rPr>
              <a:t>Chương 1 trình bày cơ sở lý thuyết về phát hiện bất thường từ nhật ký hệ thống và các phương pháp phát hiện phổ biến:</a:t>
            </a:r>
          </a:p>
          <a:p>
            <a:pPr algn="l" marL="755651" indent="-377825" lvl="1">
              <a:lnSpc>
                <a:spcPts val="4900"/>
              </a:lnSpc>
              <a:buFont typeface="Arial"/>
              <a:buChar char="•"/>
            </a:pPr>
            <a:r>
              <a:rPr lang="en-US" sz="3500">
                <a:solidFill>
                  <a:srgbClr val="D6241E"/>
                </a:solidFill>
                <a:latin typeface="Montserrat"/>
                <a:ea typeface="Montserrat"/>
                <a:cs typeface="Montserrat"/>
                <a:sym typeface="Montserrat"/>
              </a:rPr>
              <a:t>Tổng quan về phát hiện bất thường từ nhật ký hệ thống</a:t>
            </a:r>
          </a:p>
          <a:p>
            <a:pPr algn="l" marL="755651" indent="-377825" lvl="1">
              <a:lnSpc>
                <a:spcPts val="4900"/>
              </a:lnSpc>
              <a:buFont typeface="Arial"/>
              <a:buChar char="•"/>
            </a:pPr>
            <a:r>
              <a:rPr lang="en-US" sz="3500">
                <a:solidFill>
                  <a:srgbClr val="D6241E"/>
                </a:solidFill>
                <a:latin typeface="Montserrat"/>
                <a:ea typeface="Montserrat"/>
                <a:cs typeface="Montserrat"/>
                <a:sym typeface="Montserrat"/>
              </a:rPr>
              <a:t>Các phương pháp phát hiện bất thường từ nhật ký hệ thống</a:t>
            </a:r>
          </a:p>
          <a:p>
            <a:pPr algn="l" marL="755651" indent="-377825" lvl="1">
              <a:lnSpc>
                <a:spcPts val="4900"/>
              </a:lnSpc>
              <a:buFont typeface="Arial"/>
              <a:buChar char="•"/>
            </a:pPr>
            <a:r>
              <a:rPr lang="en-US" sz="3500">
                <a:solidFill>
                  <a:srgbClr val="D6241E"/>
                </a:solidFill>
                <a:latin typeface="Montserrat"/>
                <a:ea typeface="Montserrat"/>
                <a:cs typeface="Montserrat"/>
                <a:sym typeface="Montserrat"/>
              </a:rPr>
              <a:t>Một số nghiên cứu liên quan về phát hiện bất thường từ nhật ký hệ thống</a:t>
            </a:r>
          </a:p>
          <a:p>
            <a:pPr algn="l" marL="755651" indent="-377825" lvl="1">
              <a:lnSpc>
                <a:spcPts val="4900"/>
              </a:lnSpc>
              <a:buFont typeface="Arial"/>
              <a:buChar char="•"/>
            </a:pPr>
            <a:r>
              <a:rPr lang="en-US" sz="3500">
                <a:solidFill>
                  <a:srgbClr val="D6241E"/>
                </a:solidFill>
                <a:latin typeface="Montserrat"/>
                <a:ea typeface="Montserrat"/>
                <a:cs typeface="Montserrat"/>
                <a:sym typeface="Montserrat"/>
              </a:rPr>
              <a:t>Kết chương</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4</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76223"/>
            <a:ext cx="17122646"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Tổng quan về phát hiện bất thường từ nhật ký hệ thống</a:t>
            </a:r>
          </a:p>
        </p:txBody>
      </p:sp>
      <p:sp>
        <p:nvSpPr>
          <p:cNvPr name="TextBox 7" id="7"/>
          <p:cNvSpPr txBox="true"/>
          <p:nvPr/>
        </p:nvSpPr>
        <p:spPr>
          <a:xfrm rot="0">
            <a:off x="159574" y="3287967"/>
            <a:ext cx="17314936" cy="1251584"/>
          </a:xfrm>
          <a:prstGeom prst="rect">
            <a:avLst/>
          </a:prstGeom>
        </p:spPr>
        <p:txBody>
          <a:bodyPr anchor="t" rtlCol="false" tIns="0" lIns="0" bIns="0" rIns="0">
            <a:spAutoFit/>
          </a:bodyPr>
          <a:lstStyle/>
          <a:p>
            <a:pPr algn="l" marL="777248" indent="-388624" lvl="1">
              <a:lnSpc>
                <a:spcPts val="5040"/>
              </a:lnSpc>
              <a:buFont typeface="Arial"/>
              <a:buChar char="•"/>
            </a:pPr>
            <a:r>
              <a:rPr lang="en-US" b="true" sz="3600">
                <a:solidFill>
                  <a:srgbClr val="D6241E"/>
                </a:solidFill>
                <a:latin typeface="Montserrat Bold"/>
                <a:ea typeface="Montserrat Bold"/>
                <a:cs typeface="Montserrat Bold"/>
                <a:sym typeface="Montserrat Bold"/>
              </a:rPr>
              <a:t>Tổng quan về nhật ký hệ thống và phát hiện bất thường</a:t>
            </a:r>
          </a:p>
          <a:p>
            <a:pPr algn="l" marL="777248" indent="-388624" lvl="1">
              <a:lnSpc>
                <a:spcPts val="5040"/>
              </a:lnSpc>
              <a:buFont typeface="Arial"/>
              <a:buChar char="•"/>
            </a:pPr>
            <a:r>
              <a:rPr lang="en-US" b="true" sz="3600">
                <a:solidFill>
                  <a:srgbClr val="D6241E"/>
                </a:solidFill>
                <a:latin typeface="Montserrat Bold"/>
                <a:ea typeface="Montserrat Bold"/>
                <a:cs typeface="Montserrat Bold"/>
                <a:sym typeface="Montserrat Bold"/>
              </a:rPr>
              <a:t>Quy trình xử lý và thách thức của bài toán</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5</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427978" y="185568"/>
            <a:ext cx="17122646"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Tổng quan về phát hiện bất thường từ nhật ký hệ thống</a:t>
            </a:r>
          </a:p>
        </p:txBody>
      </p:sp>
      <p:sp>
        <p:nvSpPr>
          <p:cNvPr name="TextBox 7" id="7"/>
          <p:cNvSpPr txBox="true"/>
          <p:nvPr/>
        </p:nvSpPr>
        <p:spPr>
          <a:xfrm rot="0">
            <a:off x="159574" y="2402878"/>
            <a:ext cx="17314936" cy="5585681"/>
          </a:xfrm>
          <a:prstGeom prst="rect">
            <a:avLst/>
          </a:prstGeom>
        </p:spPr>
        <p:txBody>
          <a:bodyPr anchor="t" rtlCol="false" tIns="0" lIns="0" bIns="0" rIns="0">
            <a:spAutoFit/>
          </a:bodyPr>
          <a:lstStyle/>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Nhật ký hệ thống là tập hợp các bản ghi được sinh ra trong quá trình thực thi của phần mềm, hệ điều hành, máy chủ hoặc các dịch vụ mạng.</a:t>
            </a:r>
          </a:p>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Log là nguồn dữ liệu quan trọng để giám sát hệ thống, chẩn đoán sự cố, phát hiện lỗi phần m</a:t>
            </a:r>
            <a:r>
              <a:rPr lang="en-US" sz="3616">
                <a:solidFill>
                  <a:srgbClr val="D6241E"/>
                </a:solidFill>
                <a:latin typeface="Montserrat"/>
                <a:ea typeface="Montserrat"/>
                <a:cs typeface="Montserrat"/>
                <a:sym typeface="Montserrat"/>
              </a:rPr>
              <a:t>ềm, lỗi cấu hình, tấn công, quá tải tài nguyên và các hành vi bất thường.</a:t>
            </a:r>
          </a:p>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Phát hiện bất thường từ log là quá trình xác định những mẫu log, chuỗi log hoặc phiên hoạt động có sự khác biệt đáng kể so với hành vi vận hành bình thường.</a:t>
            </a:r>
          </a:p>
          <a:p>
            <a:pPr algn="l">
              <a:lnSpc>
                <a:spcPts val="3942"/>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6</a:t>
            </a:r>
          </a:p>
        </p:txBody>
      </p:sp>
      <p:sp>
        <p:nvSpPr>
          <p:cNvPr name="TextBox 9" id="9"/>
          <p:cNvSpPr txBox="true"/>
          <p:nvPr/>
        </p:nvSpPr>
        <p:spPr>
          <a:xfrm rot="0">
            <a:off x="427978" y="1373949"/>
            <a:ext cx="15819836"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Tổng quan về nhật ký hệ thống và phát hiện bất thường</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427978" y="185568"/>
            <a:ext cx="17122646"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Tổng quan về phát hiện bất thường từ nhật ký hệ thống</a:t>
            </a:r>
          </a:p>
        </p:txBody>
      </p:sp>
      <p:sp>
        <p:nvSpPr>
          <p:cNvPr name="TextBox 7" id="7"/>
          <p:cNvSpPr txBox="true"/>
          <p:nvPr/>
        </p:nvSpPr>
        <p:spPr>
          <a:xfrm rot="0">
            <a:off x="159574" y="2400192"/>
            <a:ext cx="17314936" cy="6356571"/>
          </a:xfrm>
          <a:prstGeom prst="rect">
            <a:avLst/>
          </a:prstGeom>
        </p:spPr>
        <p:txBody>
          <a:bodyPr anchor="t" rtlCol="false" tIns="0" lIns="0" bIns="0" rIns="0">
            <a:spAutoFit/>
          </a:bodyPr>
          <a:lstStyle/>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Quy trình bài toán: log thô -&gt; tiền xử lý/chuẩn hóa -&gt; ánh xạ thành sự kiện có cấu trúc -&gt; gom theo phiên/cửa sổ thời gian -&gt; trích xuất vector đặc trưng -&gt; mô hình phân loại bình thường/bất thường.</a:t>
            </a:r>
          </a:p>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Khó khăn chính: log không đồng nhất, chứa nhiều trường động, dữ liệu bất thường khan hiếm và mất cân bằng lớp; thêm vào đó khối lượng log rất lớn khiến phân tích thủ công kém hiệu quả.</a:t>
            </a:r>
          </a:p>
          <a:p>
            <a:pPr algn="l" marL="780755" indent="-390378" lvl="1">
              <a:lnSpc>
                <a:spcPts val="5062"/>
              </a:lnSpc>
              <a:buFont typeface="Arial"/>
              <a:buChar char="•"/>
            </a:pPr>
            <a:r>
              <a:rPr lang="en-US" sz="3616">
                <a:solidFill>
                  <a:srgbClr val="D6241E"/>
                </a:solidFill>
                <a:latin typeface="Montserrat"/>
                <a:ea typeface="Montserrat"/>
                <a:cs typeface="Montserrat"/>
                <a:sym typeface="Montserrat"/>
              </a:rPr>
              <a:t>Vì vậy, cần các phương pháp phát hiện tự động có khả năng học mẫu vận hành thực tế để giảm cảnh báo giả và hỗ trợ phát hiện chính xác hơn.</a:t>
            </a:r>
          </a:p>
          <a:p>
            <a:pPr algn="l">
              <a:lnSpc>
                <a:spcPts val="5062"/>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7</a:t>
            </a:r>
          </a:p>
        </p:txBody>
      </p:sp>
      <p:sp>
        <p:nvSpPr>
          <p:cNvPr name="TextBox 9" id="9"/>
          <p:cNvSpPr txBox="true"/>
          <p:nvPr/>
        </p:nvSpPr>
        <p:spPr>
          <a:xfrm rot="0">
            <a:off x="427978" y="1373949"/>
            <a:ext cx="11541154"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Quy trình xử lý và thách thức của bài toán</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246893"/>
            <a:chOff x="0" y="0"/>
            <a:chExt cx="4816593" cy="328400"/>
          </a:xfrm>
        </p:grpSpPr>
        <p:sp>
          <p:nvSpPr>
            <p:cNvPr name="Freeform 3" id="3"/>
            <p:cNvSpPr/>
            <p:nvPr/>
          </p:nvSpPr>
          <p:spPr>
            <a:xfrm flipH="false" flipV="false" rot="0">
              <a:off x="0" y="0"/>
              <a:ext cx="4816592" cy="328400"/>
            </a:xfrm>
            <a:custGeom>
              <a:avLst/>
              <a:gdLst/>
              <a:ahLst/>
              <a:cxnLst/>
              <a:rect r="r" b="b" t="t" l="l"/>
              <a:pathLst>
                <a:path h="328400" w="4816592">
                  <a:moveTo>
                    <a:pt x="0" y="0"/>
                  </a:moveTo>
                  <a:lnTo>
                    <a:pt x="4816592" y="0"/>
                  </a:lnTo>
                  <a:lnTo>
                    <a:pt x="4816592" y="328400"/>
                  </a:lnTo>
                  <a:lnTo>
                    <a:pt x="0" y="328400"/>
                  </a:lnTo>
                  <a:close/>
                </a:path>
              </a:pathLst>
            </a:custGeom>
            <a:solidFill>
              <a:srgbClr val="DD4904"/>
            </a:solidFill>
          </p:spPr>
        </p:sp>
        <p:sp>
          <p:nvSpPr>
            <p:cNvPr name="TextBox 4" id="4"/>
            <p:cNvSpPr txBox="true"/>
            <p:nvPr/>
          </p:nvSpPr>
          <p:spPr>
            <a:xfrm>
              <a:off x="0" y="-38100"/>
              <a:ext cx="4816593" cy="36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226603" y="276223"/>
            <a:ext cx="18061397"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phương pháp phát hiện bất thường từ nhật ký hệ thống</a:t>
            </a:r>
          </a:p>
        </p:txBody>
      </p:sp>
      <p:sp>
        <p:nvSpPr>
          <p:cNvPr name="TextBox 7" id="7"/>
          <p:cNvSpPr txBox="true"/>
          <p:nvPr/>
        </p:nvSpPr>
        <p:spPr>
          <a:xfrm rot="0">
            <a:off x="226603" y="2624187"/>
            <a:ext cx="17588616" cy="3804286"/>
          </a:xfrm>
          <a:prstGeom prst="rect">
            <a:avLst/>
          </a:prstGeom>
        </p:spPr>
        <p:txBody>
          <a:bodyPr anchor="t" rtlCol="false" tIns="0" lIns="0" bIns="0" rIns="0">
            <a:spAutoFit/>
          </a:bodyPr>
          <a:lstStyle/>
          <a:p>
            <a:pPr algn="l" marL="777235" indent="-388618" lvl="1">
              <a:lnSpc>
                <a:spcPts val="5039"/>
              </a:lnSpc>
              <a:buFont typeface="Arial"/>
              <a:buChar char="•"/>
            </a:pPr>
            <a:r>
              <a:rPr lang="en-US" b="true" sz="3599">
                <a:solidFill>
                  <a:srgbClr val="D6241E"/>
                </a:solidFill>
                <a:latin typeface="Montserrat Bold"/>
                <a:ea typeface="Montserrat Bold"/>
                <a:cs typeface="Montserrat Bold"/>
                <a:sym typeface="Montserrat Bold"/>
              </a:rPr>
              <a:t>Phương pháp dựa trên luật và dấu hiệu</a:t>
            </a:r>
          </a:p>
          <a:p>
            <a:pPr algn="l" marL="777235" indent="-388618" lvl="1">
              <a:lnSpc>
                <a:spcPts val="5039"/>
              </a:lnSpc>
              <a:buFont typeface="Arial"/>
              <a:buChar char="•"/>
            </a:pPr>
            <a:r>
              <a:rPr lang="en-US" b="true" sz="3599">
                <a:solidFill>
                  <a:srgbClr val="D6241E"/>
                </a:solidFill>
                <a:latin typeface="Montserrat Bold"/>
                <a:ea typeface="Montserrat Bold"/>
                <a:cs typeface="Montserrat Bold"/>
                <a:sym typeface="Montserrat Bold"/>
              </a:rPr>
              <a:t>Phương pháp dựa trên thống kê và khai phá mẫu</a:t>
            </a:r>
          </a:p>
          <a:p>
            <a:pPr algn="l" marL="777235" indent="-388618" lvl="1">
              <a:lnSpc>
                <a:spcPts val="5039"/>
              </a:lnSpc>
              <a:buFont typeface="Arial"/>
              <a:buChar char="•"/>
            </a:pPr>
            <a:r>
              <a:rPr lang="en-US" b="true" sz="3599">
                <a:solidFill>
                  <a:srgbClr val="D6241E"/>
                </a:solidFill>
                <a:latin typeface="Montserrat Bold"/>
                <a:ea typeface="Montserrat Bold"/>
                <a:cs typeface="Montserrat Bold"/>
                <a:sym typeface="Montserrat Bold"/>
              </a:rPr>
              <a:t>Phương pháp học máy có giám sát</a:t>
            </a:r>
          </a:p>
          <a:p>
            <a:pPr algn="l" marL="777235" indent="-388618" lvl="1">
              <a:lnSpc>
                <a:spcPts val="5039"/>
              </a:lnSpc>
              <a:buFont typeface="Arial"/>
              <a:buChar char="•"/>
            </a:pPr>
            <a:r>
              <a:rPr lang="en-US" b="true" sz="3599">
                <a:solidFill>
                  <a:srgbClr val="D6241E"/>
                </a:solidFill>
                <a:latin typeface="Montserrat Bold"/>
                <a:ea typeface="Montserrat Bold"/>
                <a:cs typeface="Montserrat Bold"/>
                <a:sym typeface="Montserrat Bold"/>
              </a:rPr>
              <a:t>Phương pháp học máy không giám sát</a:t>
            </a:r>
          </a:p>
          <a:p>
            <a:pPr algn="l" marL="777235" indent="-388618" lvl="1">
              <a:lnSpc>
                <a:spcPts val="5039"/>
              </a:lnSpc>
              <a:buFont typeface="Arial"/>
              <a:buChar char="•"/>
            </a:pPr>
            <a:r>
              <a:rPr lang="en-US" b="true" sz="3599">
                <a:solidFill>
                  <a:srgbClr val="D6241E"/>
                </a:solidFill>
                <a:latin typeface="Montserrat Bold"/>
                <a:ea typeface="Montserrat Bold"/>
                <a:cs typeface="Montserrat Bold"/>
                <a:sym typeface="Montserrat Bold"/>
              </a:rPr>
              <a:t>Phương pháp học sâu</a:t>
            </a:r>
          </a:p>
          <a:p>
            <a:pPr algn="l">
              <a:lnSpc>
                <a:spcPts val="5039"/>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246893"/>
            <a:chOff x="0" y="0"/>
            <a:chExt cx="4816593" cy="328400"/>
          </a:xfrm>
        </p:grpSpPr>
        <p:sp>
          <p:nvSpPr>
            <p:cNvPr name="Freeform 3" id="3"/>
            <p:cNvSpPr/>
            <p:nvPr/>
          </p:nvSpPr>
          <p:spPr>
            <a:xfrm flipH="false" flipV="false" rot="0">
              <a:off x="0" y="0"/>
              <a:ext cx="4816592" cy="328400"/>
            </a:xfrm>
            <a:custGeom>
              <a:avLst/>
              <a:gdLst/>
              <a:ahLst/>
              <a:cxnLst/>
              <a:rect r="r" b="b" t="t" l="l"/>
              <a:pathLst>
                <a:path h="328400" w="4816592">
                  <a:moveTo>
                    <a:pt x="0" y="0"/>
                  </a:moveTo>
                  <a:lnTo>
                    <a:pt x="4816592" y="0"/>
                  </a:lnTo>
                  <a:lnTo>
                    <a:pt x="4816592" y="328400"/>
                  </a:lnTo>
                  <a:lnTo>
                    <a:pt x="0" y="328400"/>
                  </a:lnTo>
                  <a:close/>
                </a:path>
              </a:pathLst>
            </a:custGeom>
            <a:solidFill>
              <a:srgbClr val="DD4904"/>
            </a:solidFill>
          </p:spPr>
        </p:sp>
        <p:sp>
          <p:nvSpPr>
            <p:cNvPr name="TextBox 4" id="4"/>
            <p:cNvSpPr txBox="true"/>
            <p:nvPr/>
          </p:nvSpPr>
          <p:spPr>
            <a:xfrm>
              <a:off x="0" y="-38100"/>
              <a:ext cx="4816593" cy="36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13302" y="209108"/>
            <a:ext cx="18061397"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phương pháp phát hiện bất thường từ nhật ký hệ thống</a:t>
            </a:r>
          </a:p>
        </p:txBody>
      </p:sp>
      <p:sp>
        <p:nvSpPr>
          <p:cNvPr name="TextBox 7" id="7"/>
          <p:cNvSpPr txBox="true"/>
          <p:nvPr/>
        </p:nvSpPr>
        <p:spPr>
          <a:xfrm rot="0">
            <a:off x="113302" y="2121993"/>
            <a:ext cx="17588616" cy="5718811"/>
          </a:xfrm>
          <a:prstGeom prst="rect">
            <a:avLst/>
          </a:prstGeom>
        </p:spPr>
        <p:txBody>
          <a:bodyPr anchor="t" rtlCol="false" tIns="0" lIns="0" bIns="0" rIns="0">
            <a:spAutoFit/>
          </a:bodyPr>
          <a:lstStyle/>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Dựa trên luật và dấu hiệu</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Xây dựng luật thủ công, tìm từ khóa lỗi, mẫu câu nguy hiểm</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Ưu điểm: đơn giản, dễ áp dụng, tốt với lỗi đã biết</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Nhược điểm: phụ thuộc chuyên gia, khó phát hiện bất thường mới</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Dựa trên thống kê và khai phá mẫu</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Phát hiện sai khác so với phân bố bình thường</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Kỹ thuật tiêu biểu: PCA, khai phá quan hệ bất biến, phân cụm</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Phù hợp khi muốn khai thác quy luật vận hành chung của hệ thống</a:t>
            </a:r>
          </a:p>
          <a:p>
            <a:pPr algn="l">
              <a:lnSpc>
                <a:spcPts val="5039"/>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9</a:t>
            </a:r>
          </a:p>
        </p:txBody>
      </p:sp>
      <p:sp>
        <p:nvSpPr>
          <p:cNvPr name="TextBox 9" id="9"/>
          <p:cNvSpPr txBox="true"/>
          <p:nvPr/>
        </p:nvSpPr>
        <p:spPr>
          <a:xfrm rot="0">
            <a:off x="336943" y="1257674"/>
            <a:ext cx="1407498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Phương pháp dựa trên luật, dấu hiệu và thống kê</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246893"/>
            <a:chOff x="0" y="0"/>
            <a:chExt cx="4816593" cy="328400"/>
          </a:xfrm>
        </p:grpSpPr>
        <p:sp>
          <p:nvSpPr>
            <p:cNvPr name="Freeform 3" id="3"/>
            <p:cNvSpPr/>
            <p:nvPr/>
          </p:nvSpPr>
          <p:spPr>
            <a:xfrm flipH="false" flipV="false" rot="0">
              <a:off x="0" y="0"/>
              <a:ext cx="4816592" cy="328400"/>
            </a:xfrm>
            <a:custGeom>
              <a:avLst/>
              <a:gdLst/>
              <a:ahLst/>
              <a:cxnLst/>
              <a:rect r="r" b="b" t="t" l="l"/>
              <a:pathLst>
                <a:path h="328400" w="4816592">
                  <a:moveTo>
                    <a:pt x="0" y="0"/>
                  </a:moveTo>
                  <a:lnTo>
                    <a:pt x="4816592" y="0"/>
                  </a:lnTo>
                  <a:lnTo>
                    <a:pt x="4816592" y="328400"/>
                  </a:lnTo>
                  <a:lnTo>
                    <a:pt x="0" y="328400"/>
                  </a:lnTo>
                  <a:close/>
                </a:path>
              </a:pathLst>
            </a:custGeom>
            <a:solidFill>
              <a:srgbClr val="DD4904"/>
            </a:solidFill>
          </p:spPr>
        </p:sp>
        <p:sp>
          <p:nvSpPr>
            <p:cNvPr name="TextBox 4" id="4"/>
            <p:cNvSpPr txBox="true"/>
            <p:nvPr/>
          </p:nvSpPr>
          <p:spPr>
            <a:xfrm>
              <a:off x="0" y="-38100"/>
              <a:ext cx="4816593" cy="36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13302" y="209108"/>
            <a:ext cx="18061397"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phương pháp phát hiện bất thường từ nhật ký hệ thống</a:t>
            </a:r>
          </a:p>
        </p:txBody>
      </p:sp>
      <p:sp>
        <p:nvSpPr>
          <p:cNvPr name="TextBox 7" id="7"/>
          <p:cNvSpPr txBox="true"/>
          <p:nvPr/>
        </p:nvSpPr>
        <p:spPr>
          <a:xfrm rot="0">
            <a:off x="113302" y="2121993"/>
            <a:ext cx="17588616" cy="5080636"/>
          </a:xfrm>
          <a:prstGeom prst="rect">
            <a:avLst/>
          </a:prstGeom>
        </p:spPr>
        <p:txBody>
          <a:bodyPr anchor="t" rtlCol="false" tIns="0" lIns="0" bIns="0" rIns="0">
            <a:spAutoFit/>
          </a:bodyPr>
          <a:lstStyle/>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Cần dữ liệu đã gán nhãn bình thường/bất thường</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Một số mô hình tiêu biểu:</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Logistic Regression: đơn giản, nhanh, dễ triển khai</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Decision Tree: trực quan, dễ giải thích</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SVM: phân tách dữ liệu tốt trong không gian nhiều chiều</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Hạn chế:</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Phụ thuộc vào chất lượng nhãn</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Cần tập huấn luyện đủ tốt</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10</a:t>
            </a:r>
          </a:p>
        </p:txBody>
      </p:sp>
      <p:sp>
        <p:nvSpPr>
          <p:cNvPr name="TextBox 9" id="9"/>
          <p:cNvSpPr txBox="true"/>
          <p:nvPr/>
        </p:nvSpPr>
        <p:spPr>
          <a:xfrm rot="0">
            <a:off x="336943" y="1257674"/>
            <a:ext cx="1407498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Phương pháp học máy có giám sát</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246893"/>
            <a:chOff x="0" y="0"/>
            <a:chExt cx="4816593" cy="328400"/>
          </a:xfrm>
        </p:grpSpPr>
        <p:sp>
          <p:nvSpPr>
            <p:cNvPr name="Freeform 3" id="3"/>
            <p:cNvSpPr/>
            <p:nvPr/>
          </p:nvSpPr>
          <p:spPr>
            <a:xfrm flipH="false" flipV="false" rot="0">
              <a:off x="0" y="0"/>
              <a:ext cx="4816592" cy="328400"/>
            </a:xfrm>
            <a:custGeom>
              <a:avLst/>
              <a:gdLst/>
              <a:ahLst/>
              <a:cxnLst/>
              <a:rect r="r" b="b" t="t" l="l"/>
              <a:pathLst>
                <a:path h="328400" w="4816592">
                  <a:moveTo>
                    <a:pt x="0" y="0"/>
                  </a:moveTo>
                  <a:lnTo>
                    <a:pt x="4816592" y="0"/>
                  </a:lnTo>
                  <a:lnTo>
                    <a:pt x="4816592" y="328400"/>
                  </a:lnTo>
                  <a:lnTo>
                    <a:pt x="0" y="328400"/>
                  </a:lnTo>
                  <a:close/>
                </a:path>
              </a:pathLst>
            </a:custGeom>
            <a:solidFill>
              <a:srgbClr val="DD4904"/>
            </a:solidFill>
          </p:spPr>
        </p:sp>
        <p:sp>
          <p:nvSpPr>
            <p:cNvPr name="TextBox 4" id="4"/>
            <p:cNvSpPr txBox="true"/>
            <p:nvPr/>
          </p:nvSpPr>
          <p:spPr>
            <a:xfrm>
              <a:off x="0" y="-38100"/>
              <a:ext cx="4816593" cy="36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13302" y="209108"/>
            <a:ext cx="18061397"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phương pháp phát hiện bất thường từ nhật ký hệ thống</a:t>
            </a:r>
          </a:p>
        </p:txBody>
      </p:sp>
      <p:sp>
        <p:nvSpPr>
          <p:cNvPr name="TextBox 7" id="7"/>
          <p:cNvSpPr txBox="true"/>
          <p:nvPr/>
        </p:nvSpPr>
        <p:spPr>
          <a:xfrm rot="0">
            <a:off x="113302" y="2121993"/>
            <a:ext cx="17588616" cy="5718811"/>
          </a:xfrm>
          <a:prstGeom prst="rect">
            <a:avLst/>
          </a:prstGeom>
        </p:spPr>
        <p:txBody>
          <a:bodyPr anchor="t" rtlCol="false" tIns="0" lIns="0" bIns="0" rIns="0">
            <a:spAutoFit/>
          </a:bodyPr>
          <a:lstStyle/>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Không cần dữ liệu gán nhãn</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Các hướng tiêu biểu:</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Log Clustering: gom các mẫu log tương tự thành cụm</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PCA: phát hiện bất thường qua phần sai khác ngoài không gian chính</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Invariant Mining: tìm quan hệ ổn định giữa các sự kiện log</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Ưu điểm:</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Phù hợp thực tế khi nhãn khan hiếm</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Hạn chế:</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Có thể khó diễn giải hoặc phụ thuộc ngưỡng</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11</a:t>
            </a:r>
          </a:p>
        </p:txBody>
      </p:sp>
      <p:sp>
        <p:nvSpPr>
          <p:cNvPr name="TextBox 9" id="9"/>
          <p:cNvSpPr txBox="true"/>
          <p:nvPr/>
        </p:nvSpPr>
        <p:spPr>
          <a:xfrm rot="0">
            <a:off x="336943" y="1257674"/>
            <a:ext cx="1407498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Phương pháp học máy không giám sát</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246893"/>
            <a:chOff x="0" y="0"/>
            <a:chExt cx="4816593" cy="328400"/>
          </a:xfrm>
        </p:grpSpPr>
        <p:sp>
          <p:nvSpPr>
            <p:cNvPr name="Freeform 3" id="3"/>
            <p:cNvSpPr/>
            <p:nvPr/>
          </p:nvSpPr>
          <p:spPr>
            <a:xfrm flipH="false" flipV="false" rot="0">
              <a:off x="0" y="0"/>
              <a:ext cx="4816592" cy="328400"/>
            </a:xfrm>
            <a:custGeom>
              <a:avLst/>
              <a:gdLst/>
              <a:ahLst/>
              <a:cxnLst/>
              <a:rect r="r" b="b" t="t" l="l"/>
              <a:pathLst>
                <a:path h="328400" w="4816592">
                  <a:moveTo>
                    <a:pt x="0" y="0"/>
                  </a:moveTo>
                  <a:lnTo>
                    <a:pt x="4816592" y="0"/>
                  </a:lnTo>
                  <a:lnTo>
                    <a:pt x="4816592" y="328400"/>
                  </a:lnTo>
                  <a:lnTo>
                    <a:pt x="0" y="328400"/>
                  </a:lnTo>
                  <a:close/>
                </a:path>
              </a:pathLst>
            </a:custGeom>
            <a:solidFill>
              <a:srgbClr val="DD4904"/>
            </a:solidFill>
          </p:spPr>
        </p:sp>
        <p:sp>
          <p:nvSpPr>
            <p:cNvPr name="TextBox 4" id="4"/>
            <p:cNvSpPr txBox="true"/>
            <p:nvPr/>
          </p:nvSpPr>
          <p:spPr>
            <a:xfrm>
              <a:off x="0" y="-38100"/>
              <a:ext cx="4816593" cy="3665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13302" y="209108"/>
            <a:ext cx="18061397"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phương pháp phát hiện bất thường từ nhật ký hệ thống</a:t>
            </a:r>
          </a:p>
        </p:txBody>
      </p:sp>
      <p:sp>
        <p:nvSpPr>
          <p:cNvPr name="TextBox 7" id="7"/>
          <p:cNvSpPr txBox="true"/>
          <p:nvPr/>
        </p:nvSpPr>
        <p:spPr>
          <a:xfrm rot="0">
            <a:off x="0" y="2121993"/>
            <a:ext cx="17588616" cy="6995161"/>
          </a:xfrm>
          <a:prstGeom prst="rect">
            <a:avLst/>
          </a:prstGeom>
        </p:spPr>
        <p:txBody>
          <a:bodyPr anchor="t" rtlCol="false" tIns="0" lIns="0" bIns="0" rIns="0">
            <a:spAutoFit/>
          </a:bodyPr>
          <a:lstStyle/>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Học sâu</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Mô hình tiêu biểu: DeepLog, LogAnomaly</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Ưu điểm: học tốt ngữ cảnh chuỗi log, mô hình hóa quan hệ phức tạp</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Nhược điểm: chi phí tính toán cao, cần nhiều dữ liệu, khó diễn giải</a:t>
            </a:r>
          </a:p>
          <a:p>
            <a:pPr algn="l" marL="777235" indent="-388618" lvl="1">
              <a:lnSpc>
                <a:spcPts val="5039"/>
              </a:lnSpc>
              <a:buFont typeface="Arial"/>
              <a:buChar char="•"/>
            </a:pPr>
            <a:r>
              <a:rPr lang="en-US" sz="3599">
                <a:solidFill>
                  <a:srgbClr val="D6241E"/>
                </a:solidFill>
                <a:latin typeface="Montserrat"/>
                <a:ea typeface="Montserrat"/>
                <a:cs typeface="Montserrat"/>
                <a:sym typeface="Montserrat"/>
              </a:rPr>
              <a:t>Kết luận so sánh</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Không có phương pháp nào tối ưu cho mọi trường hợp</a:t>
            </a:r>
          </a:p>
          <a:p>
            <a:pPr algn="l" marL="1554470" indent="-518157" lvl="2">
              <a:lnSpc>
                <a:spcPts val="5039"/>
              </a:lnSpc>
              <a:buFont typeface="Arial"/>
              <a:buChar char="⚬"/>
            </a:pPr>
            <a:r>
              <a:rPr lang="en-US" sz="3599">
                <a:solidFill>
                  <a:srgbClr val="D6241E"/>
                </a:solidFill>
                <a:latin typeface="Montserrat"/>
                <a:ea typeface="Montserrat"/>
                <a:cs typeface="Montserrat"/>
                <a:sym typeface="Montserrat"/>
              </a:rPr>
              <a:t>Việc lựa chọn phụ thuộc vào:</a:t>
            </a:r>
          </a:p>
          <a:p>
            <a:pPr algn="l" marL="2331705" indent="-582926" lvl="3">
              <a:lnSpc>
                <a:spcPts val="5039"/>
              </a:lnSpc>
              <a:buFont typeface="Arial"/>
              <a:buChar char="￭"/>
            </a:pPr>
            <a:r>
              <a:rPr lang="en-US" sz="3599">
                <a:solidFill>
                  <a:srgbClr val="D6241E"/>
                </a:solidFill>
                <a:latin typeface="Montserrat"/>
                <a:ea typeface="Montserrat"/>
                <a:cs typeface="Montserrat"/>
                <a:sym typeface="Montserrat"/>
              </a:rPr>
              <a:t>Đ</a:t>
            </a:r>
            <a:r>
              <a:rPr lang="en-US" sz="3599">
                <a:solidFill>
                  <a:srgbClr val="D6241E"/>
                </a:solidFill>
                <a:latin typeface="Montserrat"/>
                <a:ea typeface="Montserrat"/>
                <a:cs typeface="Montserrat"/>
                <a:sym typeface="Montserrat"/>
              </a:rPr>
              <a:t>ặc điểm dữ liệu log</a:t>
            </a:r>
          </a:p>
          <a:p>
            <a:pPr algn="l" marL="2331705" indent="-582926" lvl="3">
              <a:lnSpc>
                <a:spcPts val="5039"/>
              </a:lnSpc>
              <a:buFont typeface="Arial"/>
              <a:buChar char="￭"/>
            </a:pPr>
            <a:r>
              <a:rPr lang="en-US" sz="3599">
                <a:solidFill>
                  <a:srgbClr val="D6241E"/>
                </a:solidFill>
                <a:latin typeface="Montserrat"/>
                <a:ea typeface="Montserrat"/>
                <a:cs typeface="Montserrat"/>
                <a:sym typeface="Montserrat"/>
              </a:rPr>
              <a:t>K</a:t>
            </a:r>
            <a:r>
              <a:rPr lang="en-US" sz="3599">
                <a:solidFill>
                  <a:srgbClr val="D6241E"/>
                </a:solidFill>
                <a:latin typeface="Montserrat"/>
                <a:ea typeface="Montserrat"/>
                <a:cs typeface="Montserrat"/>
                <a:sym typeface="Montserrat"/>
              </a:rPr>
              <a:t>hả năng có nhãn hay không</a:t>
            </a:r>
          </a:p>
          <a:p>
            <a:pPr algn="l" marL="2331705" indent="-582926" lvl="3">
              <a:lnSpc>
                <a:spcPts val="5039"/>
              </a:lnSpc>
              <a:buFont typeface="Arial"/>
              <a:buChar char="￭"/>
            </a:pPr>
            <a:r>
              <a:rPr lang="en-US" sz="3599">
                <a:solidFill>
                  <a:srgbClr val="D6241E"/>
                </a:solidFill>
                <a:latin typeface="Montserrat"/>
                <a:ea typeface="Montserrat"/>
                <a:cs typeface="Montserrat"/>
                <a:sym typeface="Montserrat"/>
              </a:rPr>
              <a:t>T</a:t>
            </a:r>
            <a:r>
              <a:rPr lang="en-US" sz="3599">
                <a:solidFill>
                  <a:srgbClr val="D6241E"/>
                </a:solidFill>
                <a:latin typeface="Montserrat"/>
                <a:ea typeface="Montserrat"/>
                <a:cs typeface="Montserrat"/>
                <a:sym typeface="Montserrat"/>
              </a:rPr>
              <a:t>ài nguyên tính toán</a:t>
            </a:r>
          </a:p>
          <a:p>
            <a:pPr algn="l" marL="2331705" indent="-582926" lvl="3">
              <a:lnSpc>
                <a:spcPts val="5039"/>
              </a:lnSpc>
              <a:buFont typeface="Arial"/>
              <a:buChar char="￭"/>
            </a:pPr>
            <a:r>
              <a:rPr lang="en-US" sz="3599">
                <a:solidFill>
                  <a:srgbClr val="D6241E"/>
                </a:solidFill>
                <a:latin typeface="Montserrat"/>
                <a:ea typeface="Montserrat"/>
                <a:cs typeface="Montserrat"/>
                <a:sym typeface="Montserrat"/>
              </a:rPr>
              <a:t>Y</a:t>
            </a:r>
            <a:r>
              <a:rPr lang="en-US" sz="3599">
                <a:solidFill>
                  <a:srgbClr val="D6241E"/>
                </a:solidFill>
                <a:latin typeface="Montserrat"/>
                <a:ea typeface="Montserrat"/>
                <a:cs typeface="Montserrat"/>
                <a:sym typeface="Montserrat"/>
              </a:rPr>
              <a:t>êu cầu giải thích kết quả</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12</a:t>
            </a:r>
          </a:p>
        </p:txBody>
      </p:sp>
      <p:sp>
        <p:nvSpPr>
          <p:cNvPr name="TextBox 9" id="9"/>
          <p:cNvSpPr txBox="true"/>
          <p:nvPr/>
        </p:nvSpPr>
        <p:spPr>
          <a:xfrm rot="0">
            <a:off x="336943" y="1257674"/>
            <a:ext cx="1407498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Học sâu và so sánh các phương pháp</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76223"/>
            <a:ext cx="17263886" cy="1543052"/>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Một số nghiên cứu liên quan về phát hiện bất thường từ nhật ký hệ thống</a:t>
            </a:r>
          </a:p>
        </p:txBody>
      </p:sp>
      <p:sp>
        <p:nvSpPr>
          <p:cNvPr name="TextBox 7" id="7"/>
          <p:cNvSpPr txBox="true"/>
          <p:nvPr/>
        </p:nvSpPr>
        <p:spPr>
          <a:xfrm rot="0">
            <a:off x="189708" y="2260600"/>
            <a:ext cx="17653884" cy="7097966"/>
          </a:xfrm>
          <a:prstGeom prst="rect">
            <a:avLst/>
          </a:prstGeom>
        </p:spPr>
        <p:txBody>
          <a:bodyPr anchor="t" rtlCol="false" tIns="0" lIns="0" bIns="0" rIns="0">
            <a:spAutoFit/>
          </a:bodyPr>
          <a:lstStyle/>
          <a:p>
            <a:pPr algn="l" marL="793973" indent="-396987" lvl="1">
              <a:lnSpc>
                <a:spcPts val="5148"/>
              </a:lnSpc>
              <a:buFont typeface="Arial"/>
              <a:buChar char="•"/>
            </a:pPr>
            <a:r>
              <a:rPr lang="en-US" sz="3677">
                <a:solidFill>
                  <a:srgbClr val="D6241E"/>
                </a:solidFill>
                <a:latin typeface="Montserrat"/>
                <a:ea typeface="Montserrat"/>
                <a:cs typeface="Montserrat"/>
                <a:sym typeface="Montserrat"/>
              </a:rPr>
              <a:t>Xu hướng nghiên cứu mới là khai thác ngữ nghĩa sâu của log thay cho chỉ dùng đặc trưng đếm sự kiện.</a:t>
            </a:r>
          </a:p>
          <a:p>
            <a:pPr algn="l" marL="793973" indent="-396987" lvl="1">
              <a:lnSpc>
                <a:spcPts val="5148"/>
              </a:lnSpc>
              <a:buFont typeface="Arial"/>
              <a:buChar char="•"/>
            </a:pPr>
            <a:r>
              <a:rPr lang="en-US" sz="3677">
                <a:solidFill>
                  <a:srgbClr val="D6241E"/>
                </a:solidFill>
                <a:latin typeface="Montserrat"/>
                <a:ea typeface="Montserrat"/>
                <a:cs typeface="Montserrat"/>
                <a:sym typeface="Montserrat"/>
              </a:rPr>
              <a:t>Các mô hình như LAnoBERT, CLDTLog cho kết quả rất cao trên HDFS, BGL.</a:t>
            </a:r>
          </a:p>
          <a:p>
            <a:pPr algn="l" marL="793973" indent="-396987" lvl="1">
              <a:lnSpc>
                <a:spcPts val="5148"/>
              </a:lnSpc>
              <a:buFont typeface="Arial"/>
              <a:buChar char="•"/>
            </a:pPr>
            <a:r>
              <a:rPr lang="en-US" sz="3677">
                <a:solidFill>
                  <a:srgbClr val="D6241E"/>
                </a:solidFill>
                <a:latin typeface="Montserrat"/>
                <a:ea typeface="Montserrat"/>
                <a:cs typeface="Montserrat"/>
                <a:sym typeface="Montserrat"/>
              </a:rPr>
              <a:t>MetaLog cho thấy tiềm năng phát hiện xuyên hệ thống khi dữ liệu nhãn ít.</a:t>
            </a:r>
          </a:p>
          <a:p>
            <a:pPr algn="l" marL="793973" indent="-396987" lvl="1">
              <a:lnSpc>
                <a:spcPts val="5148"/>
              </a:lnSpc>
              <a:buFont typeface="Arial"/>
              <a:buChar char="•"/>
            </a:pPr>
            <a:r>
              <a:rPr lang="en-US" sz="3677">
                <a:solidFill>
                  <a:srgbClr val="D6241E"/>
                </a:solidFill>
                <a:latin typeface="Montserrat"/>
                <a:ea typeface="Montserrat"/>
                <a:cs typeface="Montserrat"/>
                <a:sym typeface="Montserrat"/>
              </a:rPr>
              <a:t>LogCraft hướng tới tự động hóa toàn bộ quy trình phát hiện bất thường.</a:t>
            </a:r>
          </a:p>
          <a:p>
            <a:pPr algn="l" marL="793973" indent="-396987" lvl="1">
              <a:lnSpc>
                <a:spcPts val="5148"/>
              </a:lnSpc>
              <a:buFont typeface="Arial"/>
              <a:buChar char="•"/>
            </a:pPr>
            <a:r>
              <a:rPr lang="en-US" sz="3677">
                <a:solidFill>
                  <a:srgbClr val="D6241E"/>
                </a:solidFill>
                <a:latin typeface="Montserrat"/>
                <a:ea typeface="Montserrat"/>
                <a:cs typeface="Montserrat"/>
                <a:sym typeface="Montserrat"/>
              </a:rPr>
              <a:t>Kết luận: hiệu quả cuối cùng vẫn phụ thuộc vào dữ liệu, tiền xử lý, biểu diễn đặc trưng và bối cảnh triển khai.</a:t>
            </a:r>
          </a:p>
          <a:p>
            <a:pPr algn="l">
              <a:lnSpc>
                <a:spcPts val="5148"/>
              </a:lnSpc>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13</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4435362" cy="10287000"/>
            <a:chOff x="0" y="0"/>
            <a:chExt cx="1168161" cy="2709333"/>
          </a:xfrm>
        </p:grpSpPr>
        <p:sp>
          <p:nvSpPr>
            <p:cNvPr name="Freeform 3" id="3"/>
            <p:cNvSpPr/>
            <p:nvPr/>
          </p:nvSpPr>
          <p:spPr>
            <a:xfrm flipH="false" flipV="false" rot="0">
              <a:off x="0" y="0"/>
              <a:ext cx="1168161" cy="2709333"/>
            </a:xfrm>
            <a:custGeom>
              <a:avLst/>
              <a:gdLst/>
              <a:ahLst/>
              <a:cxnLst/>
              <a:rect r="r" b="b" t="t" l="l"/>
              <a:pathLst>
                <a:path h="2709333" w="1168161">
                  <a:moveTo>
                    <a:pt x="0" y="0"/>
                  </a:moveTo>
                  <a:lnTo>
                    <a:pt x="1168161" y="0"/>
                  </a:lnTo>
                  <a:lnTo>
                    <a:pt x="1168161" y="2709333"/>
                  </a:lnTo>
                  <a:lnTo>
                    <a:pt x="0" y="2709333"/>
                  </a:lnTo>
                  <a:close/>
                </a:path>
              </a:pathLst>
            </a:custGeom>
            <a:solidFill>
              <a:srgbClr val="DD4904"/>
            </a:solidFill>
          </p:spPr>
        </p:sp>
        <p:sp>
          <p:nvSpPr>
            <p:cNvPr name="TextBox 4" id="4"/>
            <p:cNvSpPr txBox="true"/>
            <p:nvPr/>
          </p:nvSpPr>
          <p:spPr>
            <a:xfrm>
              <a:off x="0" y="-38100"/>
              <a:ext cx="1168161"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30218" y="4260848"/>
            <a:ext cx="2974925" cy="1111253"/>
          </a:xfrm>
          <a:prstGeom prst="rect">
            <a:avLst/>
          </a:prstGeom>
        </p:spPr>
        <p:txBody>
          <a:bodyPr anchor="t" rtlCol="false" tIns="0" lIns="0" bIns="0" rIns="0">
            <a:spAutoFit/>
          </a:bodyPr>
          <a:lstStyle/>
          <a:p>
            <a:pPr algn="ctr">
              <a:lnSpc>
                <a:spcPts val="9099"/>
              </a:lnSpc>
              <a:spcBef>
                <a:spcPct val="0"/>
              </a:spcBef>
            </a:pPr>
            <a:r>
              <a:rPr lang="en-US" b="true" sz="6499">
                <a:solidFill>
                  <a:srgbClr val="FFFFFF"/>
                </a:solidFill>
                <a:latin typeface="Montserrat Bold"/>
                <a:ea typeface="Montserrat Bold"/>
                <a:cs typeface="Montserrat Bold"/>
                <a:sym typeface="Montserrat Bold"/>
              </a:rPr>
              <a:t>Phần 2</a:t>
            </a:r>
          </a:p>
        </p:txBody>
      </p:sp>
      <p:sp>
        <p:nvSpPr>
          <p:cNvPr name="TextBox 6" id="6"/>
          <p:cNvSpPr txBox="true"/>
          <p:nvPr/>
        </p:nvSpPr>
        <p:spPr>
          <a:xfrm rot="0">
            <a:off x="6165947" y="3373436"/>
            <a:ext cx="11093353" cy="3416303"/>
          </a:xfrm>
          <a:prstGeom prst="rect">
            <a:avLst/>
          </a:prstGeom>
        </p:spPr>
        <p:txBody>
          <a:bodyPr anchor="t" rtlCol="false" tIns="0" lIns="0" bIns="0" rIns="0">
            <a:spAutoFit/>
          </a:bodyPr>
          <a:lstStyle/>
          <a:p>
            <a:pPr algn="l">
              <a:lnSpc>
                <a:spcPts val="9099"/>
              </a:lnSpc>
              <a:spcBef>
                <a:spcPct val="0"/>
              </a:spcBef>
            </a:pPr>
            <a:r>
              <a:rPr lang="en-US" b="true" sz="6499">
                <a:solidFill>
                  <a:srgbClr val="D6241E"/>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14</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15</a:t>
            </a:r>
          </a:p>
        </p:txBody>
      </p:sp>
      <p:sp>
        <p:nvSpPr>
          <p:cNvPr name="TextBox 8" id="8"/>
          <p:cNvSpPr txBox="true"/>
          <p:nvPr/>
        </p:nvSpPr>
        <p:spPr>
          <a:xfrm rot="0">
            <a:off x="1028700" y="2943257"/>
            <a:ext cx="11225833" cy="2923433"/>
          </a:xfrm>
          <a:prstGeom prst="rect">
            <a:avLst/>
          </a:prstGeom>
        </p:spPr>
        <p:txBody>
          <a:bodyPr anchor="t" rtlCol="false" tIns="0" lIns="0" bIns="0" rIns="0">
            <a:spAutoFit/>
          </a:bodyPr>
          <a:lstStyle/>
          <a:p>
            <a:pPr algn="l" marL="792693" indent="-396347" lvl="1">
              <a:lnSpc>
                <a:spcPts val="5911"/>
              </a:lnSpc>
              <a:buFont typeface="Arial"/>
              <a:buChar char="•"/>
            </a:pPr>
            <a:r>
              <a:rPr lang="en-US" b="true" sz="3671">
                <a:solidFill>
                  <a:srgbClr val="D6241E"/>
                </a:solidFill>
                <a:latin typeface="Montserrat Bold"/>
                <a:ea typeface="Montserrat Bold"/>
                <a:cs typeface="Montserrat Bold"/>
                <a:sym typeface="Montserrat Bold"/>
              </a:rPr>
              <a:t>Phát biểu bài toán</a:t>
            </a:r>
          </a:p>
          <a:p>
            <a:pPr algn="l" marL="792693" indent="-396347" lvl="1">
              <a:lnSpc>
                <a:spcPts val="5911"/>
              </a:lnSpc>
              <a:buFont typeface="Arial"/>
              <a:buChar char="•"/>
            </a:pPr>
            <a:r>
              <a:rPr lang="en-US" b="true" sz="3671">
                <a:solidFill>
                  <a:srgbClr val="D6241E"/>
                </a:solidFill>
                <a:latin typeface="Montserrat Bold"/>
                <a:ea typeface="Montserrat Bold"/>
                <a:cs typeface="Montserrat Bold"/>
                <a:sym typeface="Montserrat Bold"/>
              </a:rPr>
              <a:t>Mô hình lựa chọn</a:t>
            </a:r>
          </a:p>
          <a:p>
            <a:pPr algn="l" marL="792693" indent="-396347" lvl="1">
              <a:lnSpc>
                <a:spcPts val="5911"/>
              </a:lnSpc>
              <a:buFont typeface="Arial"/>
              <a:buChar char="•"/>
            </a:pPr>
            <a:r>
              <a:rPr lang="en-US" b="true" sz="3671">
                <a:solidFill>
                  <a:srgbClr val="D6241E"/>
                </a:solidFill>
                <a:latin typeface="Montserrat Bold"/>
                <a:ea typeface="Montserrat Bold"/>
                <a:cs typeface="Montserrat Bold"/>
                <a:sym typeface="Montserrat Bold"/>
              </a:rPr>
              <a:t>Kiến trúc đề xuất</a:t>
            </a:r>
          </a:p>
          <a:p>
            <a:pPr algn="l" marL="792693" indent="-396347" lvl="1">
              <a:lnSpc>
                <a:spcPts val="5911"/>
              </a:lnSpc>
              <a:buFont typeface="Arial"/>
              <a:buChar char="•"/>
            </a:pPr>
            <a:r>
              <a:rPr lang="en-US" b="true" sz="3671">
                <a:solidFill>
                  <a:srgbClr val="D6241E"/>
                </a:solidFill>
                <a:latin typeface="Montserrat Bold"/>
                <a:ea typeface="Montserrat Bold"/>
                <a:cs typeface="Montserrat Bold"/>
                <a:sym typeface="Montserrat Bold"/>
              </a:rPr>
              <a:t>Quy trình xử lý và phát hiện bất  thường</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16</a:t>
            </a:r>
          </a:p>
        </p:txBody>
      </p:sp>
      <p:sp>
        <p:nvSpPr>
          <p:cNvPr name="TextBox 8" id="8"/>
          <p:cNvSpPr txBox="true"/>
          <p:nvPr/>
        </p:nvSpPr>
        <p:spPr>
          <a:xfrm rot="0">
            <a:off x="579705" y="2514423"/>
            <a:ext cx="5411411"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Phát biểu bài toán</a:t>
            </a:r>
          </a:p>
        </p:txBody>
      </p:sp>
      <p:sp>
        <p:nvSpPr>
          <p:cNvPr name="TextBox 9" id="9"/>
          <p:cNvSpPr txBox="true"/>
          <p:nvPr/>
        </p:nvSpPr>
        <p:spPr>
          <a:xfrm rot="0">
            <a:off x="1028700" y="3582522"/>
            <a:ext cx="16230600" cy="4409396"/>
          </a:xfrm>
          <a:prstGeom prst="rect">
            <a:avLst/>
          </a:prstGeom>
        </p:spPr>
        <p:txBody>
          <a:bodyPr anchor="t" rtlCol="false" tIns="0" lIns="0" bIns="0" rIns="0">
            <a:spAutoFit/>
          </a:bodyPr>
          <a:lstStyle/>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Bài toán: tự động phân biệt phiên log bình thường và phiên log bất thường</a:t>
            </a:r>
          </a:p>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Dữ liệu sử dụng là log HDFS, trong đó mỗi phiên được xác định theo block_id.</a:t>
            </a:r>
          </a:p>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Mục tiêu là học được quy luật vận hành để dự đoán có bất thường hay không.</a:t>
            </a: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17</a:t>
            </a:r>
          </a:p>
        </p:txBody>
      </p:sp>
      <p:sp>
        <p:nvSpPr>
          <p:cNvPr name="TextBox 8" id="8"/>
          <p:cNvSpPr txBox="true"/>
          <p:nvPr/>
        </p:nvSpPr>
        <p:spPr>
          <a:xfrm rot="0">
            <a:off x="579705" y="2165380"/>
            <a:ext cx="5411411"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Input</a:t>
            </a:r>
          </a:p>
        </p:txBody>
      </p:sp>
      <p:sp>
        <p:nvSpPr>
          <p:cNvPr name="TextBox 9" id="9"/>
          <p:cNvSpPr txBox="true"/>
          <p:nvPr/>
        </p:nvSpPr>
        <p:spPr>
          <a:xfrm rot="0">
            <a:off x="911807" y="3010649"/>
            <a:ext cx="16230600" cy="3258633"/>
          </a:xfrm>
          <a:prstGeom prst="rect">
            <a:avLst/>
          </a:prstGeom>
        </p:spPr>
        <p:txBody>
          <a:bodyPr anchor="t" rtlCol="false" tIns="0" lIns="0" bIns="0" rIns="0">
            <a:spAutoFit/>
          </a:bodyPr>
          <a:lstStyle/>
          <a:p>
            <a:pPr algn="l" marL="749514" indent="-374757" lvl="1">
              <a:lnSpc>
                <a:spcPts val="5207"/>
              </a:lnSpc>
              <a:buFont typeface="Arial"/>
              <a:buChar char="•"/>
            </a:pPr>
            <a:r>
              <a:rPr lang="en-US" sz="3471">
                <a:solidFill>
                  <a:srgbClr val="D6241E"/>
                </a:solidFill>
                <a:latin typeface="Montserrat"/>
                <a:ea typeface="Montserrat"/>
                <a:cs typeface="Montserrat"/>
                <a:sym typeface="Montserrat"/>
              </a:rPr>
              <a:t>Log HDFS thô: thời gian, nội dung log, block_id, tham số động</a:t>
            </a:r>
          </a:p>
          <a:p>
            <a:pPr algn="l" marL="749514" indent="-374757" lvl="1">
              <a:lnSpc>
                <a:spcPts val="5207"/>
              </a:lnSpc>
              <a:buFont typeface="Arial"/>
              <a:buChar char="•"/>
            </a:pPr>
            <a:r>
              <a:rPr lang="en-US" sz="3471">
                <a:solidFill>
                  <a:srgbClr val="D6241E"/>
                </a:solidFill>
                <a:latin typeface="Montserrat"/>
                <a:ea typeface="Montserrat"/>
                <a:cs typeface="Montserrat"/>
                <a:sym typeface="Montserrat"/>
              </a:rPr>
              <a:t>Sau tiền xử lý: log được gom theo session và biểu diễn thành ma trận đặc trưng X</a:t>
            </a:r>
          </a:p>
          <a:p>
            <a:pPr algn="l" marL="749514" indent="-374757" lvl="1">
              <a:lnSpc>
                <a:spcPts val="5207"/>
              </a:lnSpc>
              <a:buFont typeface="Arial"/>
              <a:buChar char="•"/>
            </a:pPr>
            <a:r>
              <a:rPr lang="en-US" sz="3471">
                <a:solidFill>
                  <a:srgbClr val="D6241E"/>
                </a:solidFill>
                <a:latin typeface="Montserrat"/>
                <a:ea typeface="Montserrat"/>
                <a:cs typeface="Montserrat"/>
                <a:sym typeface="Montserrat"/>
              </a:rPr>
              <a:t>Mỗi phiên log tương ứng với một event count vector</a:t>
            </a:r>
          </a:p>
          <a:p>
            <a:pPr algn="l" marL="749514" indent="-374757" lvl="1">
              <a:lnSpc>
                <a:spcPts val="5207"/>
              </a:lnSpc>
              <a:buFont typeface="Arial"/>
              <a:buChar char="•"/>
            </a:pPr>
            <a:r>
              <a:rPr lang="en-US" sz="3471">
                <a:solidFill>
                  <a:srgbClr val="D6241E"/>
                </a:solidFill>
                <a:latin typeface="Montserrat"/>
                <a:ea typeface="Montserrat"/>
                <a:cs typeface="Montserrat"/>
                <a:sym typeface="Montserrat"/>
              </a:rPr>
              <a:t>Input trực tiếp của mô hình: (X, y) với y là vector nhãn</a:t>
            </a:r>
          </a:p>
        </p:txBody>
      </p:sp>
      <p:sp>
        <p:nvSpPr>
          <p:cNvPr name="TextBox 10" id="10"/>
          <p:cNvSpPr txBox="true"/>
          <p:nvPr/>
        </p:nvSpPr>
        <p:spPr>
          <a:xfrm rot="0">
            <a:off x="579705" y="6497009"/>
            <a:ext cx="5411411"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Output</a:t>
            </a:r>
          </a:p>
        </p:txBody>
      </p:sp>
      <p:sp>
        <p:nvSpPr>
          <p:cNvPr name="TextBox 11" id="11"/>
          <p:cNvSpPr txBox="true"/>
          <p:nvPr/>
        </p:nvSpPr>
        <p:spPr>
          <a:xfrm rot="0">
            <a:off x="911807" y="7437527"/>
            <a:ext cx="16230600" cy="1944183"/>
          </a:xfrm>
          <a:prstGeom prst="rect">
            <a:avLst/>
          </a:prstGeom>
        </p:spPr>
        <p:txBody>
          <a:bodyPr anchor="t" rtlCol="false" tIns="0" lIns="0" bIns="0" rIns="0">
            <a:spAutoFit/>
          </a:bodyPr>
          <a:lstStyle/>
          <a:p>
            <a:pPr algn="l" marL="749514" indent="-374757" lvl="1">
              <a:lnSpc>
                <a:spcPts val="5207"/>
              </a:lnSpc>
              <a:buFont typeface="Arial"/>
              <a:buChar char="•"/>
            </a:pPr>
            <a:r>
              <a:rPr lang="en-US" sz="3471">
                <a:solidFill>
                  <a:srgbClr val="D6241E"/>
                </a:solidFill>
                <a:latin typeface="Montserrat"/>
                <a:ea typeface="Montserrat"/>
                <a:cs typeface="Montserrat"/>
                <a:sym typeface="Montserrat"/>
              </a:rPr>
              <a:t>Nhãn dự đoán cho mỗi phiên log:</a:t>
            </a:r>
          </a:p>
          <a:p>
            <a:pPr algn="l" marL="1499027" indent="-499676" lvl="2">
              <a:lnSpc>
                <a:spcPts val="5207"/>
              </a:lnSpc>
              <a:buFont typeface="Arial"/>
              <a:buChar char="⚬"/>
            </a:pPr>
            <a:r>
              <a:rPr lang="en-US" sz="3471">
                <a:solidFill>
                  <a:srgbClr val="D6241E"/>
                </a:solidFill>
                <a:latin typeface="Montserrat"/>
                <a:ea typeface="Montserrat"/>
                <a:cs typeface="Montserrat"/>
                <a:sym typeface="Montserrat"/>
              </a:rPr>
              <a:t>0: normal</a:t>
            </a:r>
          </a:p>
          <a:p>
            <a:pPr algn="l" marL="1499027" indent="-499676" lvl="2">
              <a:lnSpc>
                <a:spcPts val="5207"/>
              </a:lnSpc>
              <a:buFont typeface="Arial"/>
              <a:buChar char="⚬"/>
            </a:pPr>
            <a:r>
              <a:rPr lang="en-US" sz="3471">
                <a:solidFill>
                  <a:srgbClr val="D6241E"/>
                </a:solidFill>
                <a:latin typeface="Montserrat"/>
                <a:ea typeface="Montserrat"/>
                <a:cs typeface="Montserrat"/>
                <a:sym typeface="Montserrat"/>
              </a:rPr>
              <a:t>1: anomaly</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18</a:t>
            </a:r>
          </a:p>
        </p:txBody>
      </p:sp>
      <p:sp>
        <p:nvSpPr>
          <p:cNvPr name="TextBox 8" id="8"/>
          <p:cNvSpPr txBox="true"/>
          <p:nvPr/>
        </p:nvSpPr>
        <p:spPr>
          <a:xfrm rot="0">
            <a:off x="579705" y="2514423"/>
            <a:ext cx="6892970"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Cơ sở lựa chọn mô hình</a:t>
            </a:r>
          </a:p>
        </p:txBody>
      </p:sp>
      <p:sp>
        <p:nvSpPr>
          <p:cNvPr name="TextBox 9" id="9"/>
          <p:cNvSpPr txBox="true"/>
          <p:nvPr/>
        </p:nvSpPr>
        <p:spPr>
          <a:xfrm rot="0">
            <a:off x="1028700" y="3582522"/>
            <a:ext cx="16230600" cy="4409396"/>
          </a:xfrm>
          <a:prstGeom prst="rect">
            <a:avLst/>
          </a:prstGeom>
        </p:spPr>
        <p:txBody>
          <a:bodyPr anchor="t" rtlCol="false" tIns="0" lIns="0" bIns="0" rIns="0">
            <a:spAutoFit/>
          </a:bodyPr>
          <a:lstStyle/>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Xem xét 3 mô hình: LR, SVM, Decision Tree</a:t>
            </a:r>
          </a:p>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Chọn Decision Tree vì:</a:t>
            </a:r>
          </a:p>
          <a:p>
            <a:pPr algn="l" marL="1585385" indent="-528462" lvl="2">
              <a:lnSpc>
                <a:spcPts val="5911"/>
              </a:lnSpc>
              <a:buFont typeface="Arial"/>
              <a:buChar char="⚬"/>
            </a:pPr>
            <a:r>
              <a:rPr lang="en-US" sz="3671">
                <a:solidFill>
                  <a:srgbClr val="D6241E"/>
                </a:solidFill>
                <a:latin typeface="Montserrat"/>
                <a:ea typeface="Montserrat"/>
                <a:cs typeface="Montserrat"/>
                <a:sym typeface="Montserrat"/>
              </a:rPr>
              <a:t>Hi</a:t>
            </a:r>
            <a:r>
              <a:rPr lang="en-US" sz="3671">
                <a:solidFill>
                  <a:srgbClr val="D6241E"/>
                </a:solidFill>
                <a:latin typeface="Montserrat"/>
                <a:ea typeface="Montserrat"/>
                <a:cs typeface="Montserrat"/>
                <a:sym typeface="Montserrat"/>
              </a:rPr>
              <a:t>ệu quả tốt trên HDFS</a:t>
            </a:r>
          </a:p>
          <a:p>
            <a:pPr algn="l" marL="1585385" indent="-528462" lvl="2">
              <a:lnSpc>
                <a:spcPts val="5911"/>
              </a:lnSpc>
              <a:buFont typeface="Arial"/>
              <a:buChar char="⚬"/>
            </a:pPr>
            <a:r>
              <a:rPr lang="en-US" sz="3671">
                <a:solidFill>
                  <a:srgbClr val="D6241E"/>
                </a:solidFill>
                <a:latin typeface="Montserrat"/>
                <a:ea typeface="Montserrat"/>
                <a:cs typeface="Montserrat"/>
                <a:sym typeface="Montserrat"/>
              </a:rPr>
              <a:t>D</a:t>
            </a:r>
            <a:r>
              <a:rPr lang="en-US" sz="3671">
                <a:solidFill>
                  <a:srgbClr val="D6241E"/>
                </a:solidFill>
                <a:latin typeface="Montserrat"/>
                <a:ea typeface="Montserrat"/>
                <a:cs typeface="Montserrat"/>
                <a:sym typeface="Montserrat"/>
              </a:rPr>
              <a:t>ễ triển khai</a:t>
            </a:r>
          </a:p>
          <a:p>
            <a:pPr algn="l" marL="1585385" indent="-528462" lvl="2">
              <a:lnSpc>
                <a:spcPts val="5911"/>
              </a:lnSpc>
              <a:buFont typeface="Arial"/>
              <a:buChar char="⚬"/>
            </a:pPr>
            <a:r>
              <a:rPr lang="en-US" sz="3671">
                <a:solidFill>
                  <a:srgbClr val="D6241E"/>
                </a:solidFill>
                <a:latin typeface="Montserrat"/>
                <a:ea typeface="Montserrat"/>
                <a:cs typeface="Montserrat"/>
                <a:sym typeface="Montserrat"/>
              </a:rPr>
              <a:t>D</a:t>
            </a:r>
            <a:r>
              <a:rPr lang="en-US" sz="3671">
                <a:solidFill>
                  <a:srgbClr val="D6241E"/>
                </a:solidFill>
                <a:latin typeface="Montserrat"/>
                <a:ea typeface="Montserrat"/>
                <a:cs typeface="Montserrat"/>
                <a:sym typeface="Montserrat"/>
              </a:rPr>
              <a:t>ễ giải thích kết quả</a:t>
            </a:r>
          </a:p>
          <a:p>
            <a:pPr algn="l" marL="792693" indent="-396346" lvl="1">
              <a:lnSpc>
                <a:spcPts val="5911"/>
              </a:lnSpc>
              <a:buFont typeface="Arial"/>
              <a:buChar char="•"/>
            </a:pPr>
            <a:r>
              <a:rPr lang="en-US" sz="3671">
                <a:solidFill>
                  <a:srgbClr val="D6241E"/>
                </a:solidFill>
                <a:latin typeface="Montserrat"/>
                <a:ea typeface="Montserrat"/>
                <a:cs typeface="Montserrat"/>
                <a:sym typeface="Montserrat"/>
              </a:rPr>
              <a:t>Các mô hình còn lại dùng để so sánh</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579705" y="3654498"/>
            <a:ext cx="17515631" cy="5232795"/>
          </a:xfrm>
          <a:custGeom>
            <a:avLst/>
            <a:gdLst/>
            <a:ahLst/>
            <a:cxnLst/>
            <a:rect r="r" b="b" t="t" l="l"/>
            <a:pathLst>
              <a:path h="5232795" w="17515631">
                <a:moveTo>
                  <a:pt x="0" y="0"/>
                </a:moveTo>
                <a:lnTo>
                  <a:pt x="17515631" y="0"/>
                </a:lnTo>
                <a:lnTo>
                  <a:pt x="17515631" y="5232795"/>
                </a:lnTo>
                <a:lnTo>
                  <a:pt x="0" y="5232795"/>
                </a:lnTo>
                <a:lnTo>
                  <a:pt x="0" y="0"/>
                </a:lnTo>
                <a:close/>
              </a:path>
            </a:pathLst>
          </a:custGeom>
          <a:blipFill>
            <a:blip r:embed="rId2"/>
            <a:stretch>
              <a:fillRect l="0" t="0" r="0" b="0"/>
            </a:stretch>
          </a:blipFill>
        </p:spPr>
      </p:sp>
      <p:sp>
        <p:nvSpPr>
          <p:cNvPr name="TextBox 7" id="7"/>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19</a:t>
            </a:r>
          </a:p>
        </p:txBody>
      </p:sp>
      <p:sp>
        <p:nvSpPr>
          <p:cNvPr name="TextBox 9" id="9"/>
          <p:cNvSpPr txBox="true"/>
          <p:nvPr/>
        </p:nvSpPr>
        <p:spPr>
          <a:xfrm rot="0">
            <a:off x="579705" y="2514423"/>
            <a:ext cx="6892970"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Kiến trúc tổng thể</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20</a:t>
            </a:r>
          </a:p>
        </p:txBody>
      </p:sp>
      <p:sp>
        <p:nvSpPr>
          <p:cNvPr name="TextBox 8" id="8"/>
          <p:cNvSpPr txBox="true"/>
          <p:nvPr/>
        </p:nvSpPr>
        <p:spPr>
          <a:xfrm rot="0">
            <a:off x="579705" y="2514423"/>
            <a:ext cx="6892970"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Log thô</a:t>
            </a:r>
          </a:p>
        </p:txBody>
      </p:sp>
      <p:sp>
        <p:nvSpPr>
          <p:cNvPr name="TextBox 9" id="9"/>
          <p:cNvSpPr txBox="true"/>
          <p:nvPr/>
        </p:nvSpPr>
        <p:spPr>
          <a:xfrm rot="0">
            <a:off x="1028700" y="3582522"/>
            <a:ext cx="16230600" cy="3666446"/>
          </a:xfrm>
          <a:prstGeom prst="rect">
            <a:avLst/>
          </a:prstGeom>
        </p:spPr>
        <p:txBody>
          <a:bodyPr anchor="t" rtlCol="false" tIns="0" lIns="0" bIns="0" rIns="0">
            <a:spAutoFit/>
          </a:bodyPr>
          <a:lstStyle/>
          <a:p>
            <a:pPr algn="l">
              <a:lnSpc>
                <a:spcPts val="5911"/>
              </a:lnSpc>
            </a:pPr>
            <a:r>
              <a:rPr lang="en-US" sz="3671">
                <a:solidFill>
                  <a:srgbClr val="D6241E"/>
                </a:solidFill>
                <a:latin typeface="Montserrat"/>
                <a:ea typeface="Montserrat"/>
                <a:cs typeface="Montserrat"/>
                <a:sym typeface="Montserrat"/>
              </a:rPr>
              <a:t>Ban đầu hệ thống có các dòng log như sau:</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10:01</a:t>
            </a:r>
            <a:r>
              <a:rPr lang="en-US" sz="3671" i="true">
                <a:solidFill>
                  <a:srgbClr val="D6241E"/>
                </a:solidFill>
                <a:latin typeface="Montserrat Italics"/>
                <a:ea typeface="Montserrat Italics"/>
                <a:cs typeface="Montserrat Italics"/>
                <a:sym typeface="Montserrat Italics"/>
              </a:rPr>
              <a:t> blk_101 Received block from node A</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10:02</a:t>
            </a:r>
            <a:r>
              <a:rPr lang="en-US" sz="3671" i="true">
                <a:solidFill>
                  <a:srgbClr val="D6241E"/>
                </a:solidFill>
                <a:latin typeface="Montserrat Italics"/>
                <a:ea typeface="Montserrat Italics"/>
                <a:cs typeface="Montserrat Italics"/>
                <a:sym typeface="Montserrat Italics"/>
              </a:rPr>
              <a:t> blk_101 Received block from node B</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10:03</a:t>
            </a:r>
            <a:r>
              <a:rPr lang="en-US" sz="3671" i="true">
                <a:solidFill>
                  <a:srgbClr val="D6241E"/>
                </a:solidFill>
                <a:latin typeface="Montserrat Italics"/>
                <a:ea typeface="Montserrat Italics"/>
                <a:cs typeface="Montserrat Italics"/>
                <a:sym typeface="Montserrat Italics"/>
              </a:rPr>
              <a:t> blk_101 Verification su</a:t>
            </a:r>
            <a:r>
              <a:rPr lang="en-US" sz="3671" i="true">
                <a:solidFill>
                  <a:srgbClr val="D6241E"/>
                </a:solidFill>
                <a:latin typeface="Montserrat Italics"/>
                <a:ea typeface="Montserrat Italics"/>
                <a:cs typeface="Montserrat Italics"/>
                <a:sym typeface="Montserrat Italics"/>
              </a:rPr>
              <a:t>cceeded</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10:04 blk_101 Deleted block</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21</a:t>
            </a:r>
          </a:p>
        </p:txBody>
      </p:sp>
      <p:sp>
        <p:nvSpPr>
          <p:cNvPr name="TextBox 8" id="8"/>
          <p:cNvSpPr txBox="true"/>
          <p:nvPr/>
        </p:nvSpPr>
        <p:spPr>
          <a:xfrm rot="0">
            <a:off x="579705" y="2514423"/>
            <a:ext cx="6892970"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Log parsing</a:t>
            </a:r>
          </a:p>
        </p:txBody>
      </p:sp>
      <p:sp>
        <p:nvSpPr>
          <p:cNvPr name="TextBox 9" id="9"/>
          <p:cNvSpPr txBox="true"/>
          <p:nvPr/>
        </p:nvSpPr>
        <p:spPr>
          <a:xfrm rot="0">
            <a:off x="1028700" y="3582522"/>
            <a:ext cx="16230600" cy="3666446"/>
          </a:xfrm>
          <a:prstGeom prst="rect">
            <a:avLst/>
          </a:prstGeom>
        </p:spPr>
        <p:txBody>
          <a:bodyPr anchor="t" rtlCol="false" tIns="0" lIns="0" bIns="0" rIns="0">
            <a:spAutoFit/>
          </a:bodyPr>
          <a:lstStyle/>
          <a:p>
            <a:pPr algn="l">
              <a:lnSpc>
                <a:spcPts val="5911"/>
              </a:lnSpc>
            </a:pPr>
            <a:r>
              <a:rPr lang="en-US" sz="3671">
                <a:solidFill>
                  <a:srgbClr val="D6241E"/>
                </a:solidFill>
                <a:latin typeface="Montserrat"/>
                <a:ea typeface="Montserrat"/>
                <a:cs typeface="Montserrat"/>
                <a:sym typeface="Montserrat"/>
              </a:rPr>
              <a:t>Sau khi chuẩn hóa, mỗi dòng log được đưa về mẫu sự kiện:</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Received block from node A → </a:t>
            </a:r>
            <a:r>
              <a:rPr lang="en-US" b="true" sz="3671" i="true">
                <a:solidFill>
                  <a:srgbClr val="D6241E"/>
                </a:solidFill>
                <a:latin typeface="Montserrat Bold Italics"/>
                <a:ea typeface="Montserrat Bold Italics"/>
                <a:cs typeface="Montserrat Bold Italics"/>
                <a:sym typeface="Montserrat Bold Italics"/>
              </a:rPr>
              <a:t>E</a:t>
            </a:r>
            <a:r>
              <a:rPr lang="en-US" b="true" sz="3671" i="true">
                <a:solidFill>
                  <a:srgbClr val="D6241E"/>
                </a:solidFill>
                <a:latin typeface="Montserrat Bold Italics"/>
                <a:ea typeface="Montserrat Bold Italics"/>
                <a:cs typeface="Montserrat Bold Italics"/>
                <a:sym typeface="Montserrat Bold Italics"/>
              </a:rPr>
              <a:t>1: Received</a:t>
            </a:r>
            <a:r>
              <a:rPr lang="en-US" b="true" sz="3671" i="true">
                <a:solidFill>
                  <a:srgbClr val="D6241E"/>
                </a:solidFill>
                <a:latin typeface="Montserrat Bold Italics"/>
                <a:ea typeface="Montserrat Bold Italics"/>
                <a:cs typeface="Montserrat Bold Italics"/>
                <a:sym typeface="Montserrat Bold Italics"/>
              </a:rPr>
              <a:t> block</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Received block from node B → </a:t>
            </a:r>
            <a:r>
              <a:rPr lang="en-US" b="true" sz="3671" i="true">
                <a:solidFill>
                  <a:srgbClr val="D6241E"/>
                </a:solidFill>
                <a:latin typeface="Montserrat Bold Italics"/>
                <a:ea typeface="Montserrat Bold Italics"/>
                <a:cs typeface="Montserrat Bold Italics"/>
                <a:sym typeface="Montserrat Bold Italics"/>
              </a:rPr>
              <a:t>E</a:t>
            </a:r>
            <a:r>
              <a:rPr lang="en-US" b="true" sz="3671" i="true">
                <a:solidFill>
                  <a:srgbClr val="D6241E"/>
                </a:solidFill>
                <a:latin typeface="Montserrat Bold Italics"/>
                <a:ea typeface="Montserrat Bold Italics"/>
                <a:cs typeface="Montserrat Bold Italics"/>
                <a:sym typeface="Montserrat Bold Italics"/>
              </a:rPr>
              <a:t>1: Received</a:t>
            </a:r>
            <a:r>
              <a:rPr lang="en-US" b="true" sz="3671" i="true">
                <a:solidFill>
                  <a:srgbClr val="D6241E"/>
                </a:solidFill>
                <a:latin typeface="Montserrat Bold Italics"/>
                <a:ea typeface="Montserrat Bold Italics"/>
                <a:cs typeface="Montserrat Bold Italics"/>
                <a:sym typeface="Montserrat Bold Italics"/>
              </a:rPr>
              <a:t> block</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Verification su</a:t>
            </a:r>
            <a:r>
              <a:rPr lang="en-US" sz="3671" i="true">
                <a:solidFill>
                  <a:srgbClr val="D6241E"/>
                </a:solidFill>
                <a:latin typeface="Montserrat Italics"/>
                <a:ea typeface="Montserrat Italics"/>
                <a:cs typeface="Montserrat Italics"/>
                <a:sym typeface="Montserrat Italics"/>
              </a:rPr>
              <a:t>cceeded → </a:t>
            </a:r>
            <a:r>
              <a:rPr lang="en-US" b="true" sz="3671" i="true">
                <a:solidFill>
                  <a:srgbClr val="D6241E"/>
                </a:solidFill>
                <a:latin typeface="Montserrat Bold Italics"/>
                <a:ea typeface="Montserrat Bold Italics"/>
                <a:cs typeface="Montserrat Bold Italics"/>
                <a:sym typeface="Montserrat Bold Italics"/>
              </a:rPr>
              <a:t>E2: Verification success</a:t>
            </a:r>
          </a:p>
          <a:p>
            <a:pPr algn="l" marL="792693" indent="-396346" lvl="1">
              <a:lnSpc>
                <a:spcPts val="5911"/>
              </a:lnSpc>
              <a:buFont typeface="Arial"/>
              <a:buChar char="•"/>
            </a:pPr>
            <a:r>
              <a:rPr lang="en-US" sz="3671" i="true">
                <a:solidFill>
                  <a:srgbClr val="D6241E"/>
                </a:solidFill>
                <a:latin typeface="Montserrat Italics"/>
                <a:ea typeface="Montserrat Italics"/>
                <a:cs typeface="Montserrat Italics"/>
                <a:sym typeface="Montserrat Italics"/>
              </a:rPr>
              <a:t>Deleted block → </a:t>
            </a:r>
            <a:r>
              <a:rPr lang="en-US" b="true" sz="3671" i="true">
                <a:solidFill>
                  <a:srgbClr val="D6241E"/>
                </a:solidFill>
                <a:latin typeface="Montserrat Bold Italics"/>
                <a:ea typeface="Montserrat Bold Italics"/>
                <a:cs typeface="Montserrat Bold Italics"/>
                <a:sym typeface="Montserrat Bold Italics"/>
              </a:rPr>
              <a:t>E3: Delete block</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22</a:t>
            </a:r>
          </a:p>
        </p:txBody>
      </p:sp>
      <p:sp>
        <p:nvSpPr>
          <p:cNvPr name="TextBox 8" id="8"/>
          <p:cNvSpPr txBox="true"/>
          <p:nvPr/>
        </p:nvSpPr>
        <p:spPr>
          <a:xfrm rot="0">
            <a:off x="579705" y="2876477"/>
            <a:ext cx="999306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Gom nhóm theo session window</a:t>
            </a:r>
          </a:p>
        </p:txBody>
      </p:sp>
      <p:sp>
        <p:nvSpPr>
          <p:cNvPr name="TextBox 9" id="9"/>
          <p:cNvSpPr txBox="true"/>
          <p:nvPr/>
        </p:nvSpPr>
        <p:spPr>
          <a:xfrm rot="0">
            <a:off x="1028700" y="3981789"/>
            <a:ext cx="16230600" cy="2180546"/>
          </a:xfrm>
          <a:prstGeom prst="rect">
            <a:avLst/>
          </a:prstGeom>
        </p:spPr>
        <p:txBody>
          <a:bodyPr anchor="t" rtlCol="false" tIns="0" lIns="0" bIns="0" rIns="0">
            <a:spAutoFit/>
          </a:bodyPr>
          <a:lstStyle/>
          <a:p>
            <a:pPr algn="l">
              <a:lnSpc>
                <a:spcPts val="5911"/>
              </a:lnSpc>
            </a:pPr>
            <a:r>
              <a:rPr lang="en-US" sz="3671">
                <a:solidFill>
                  <a:srgbClr val="D6241E"/>
                </a:solidFill>
                <a:latin typeface="Montserrat"/>
                <a:ea typeface="Montserrat"/>
                <a:cs typeface="Montserrat"/>
                <a:sym typeface="Montserrat"/>
              </a:rPr>
              <a:t>Vì các log trên cùng có </a:t>
            </a:r>
            <a:r>
              <a:rPr lang="en-US" sz="3671" b="true">
                <a:solidFill>
                  <a:srgbClr val="D6241E"/>
                </a:solidFill>
                <a:latin typeface="Montserrat Bold"/>
                <a:ea typeface="Montserrat Bold"/>
                <a:cs typeface="Montserrat Bold"/>
                <a:sym typeface="Montserrat Bold"/>
              </a:rPr>
              <a:t>block_id = blk_101</a:t>
            </a:r>
            <a:r>
              <a:rPr lang="en-US" sz="3671">
                <a:solidFill>
                  <a:srgbClr val="D6241E"/>
                </a:solidFill>
                <a:latin typeface="Montserrat"/>
                <a:ea typeface="Montserrat"/>
                <a:cs typeface="Montserrat"/>
                <a:sym typeface="Montserrat"/>
              </a:rPr>
              <a:t>, nên chúng được gom thành 1 session</a:t>
            </a:r>
          </a:p>
          <a:p>
            <a:pPr algn="l">
              <a:lnSpc>
                <a:spcPts val="5911"/>
              </a:lnSpc>
            </a:pPr>
            <a:r>
              <a:rPr lang="en-US" sz="3671">
                <a:solidFill>
                  <a:srgbClr val="D6241E"/>
                </a:solidFill>
                <a:latin typeface="Montserrat"/>
                <a:ea typeface="Montserrat"/>
                <a:cs typeface="Montserrat"/>
                <a:sym typeface="Montserrat"/>
              </a:rPr>
              <a:t>         </a:t>
            </a:r>
            <a:r>
              <a:rPr lang="en-US" sz="3671" i="true">
                <a:solidFill>
                  <a:srgbClr val="D6241E"/>
                </a:solidFill>
                <a:latin typeface="Montserrat Italics"/>
                <a:ea typeface="Montserrat Italics"/>
                <a:cs typeface="Montserrat Italics"/>
                <a:sym typeface="Montserrat Italics"/>
              </a:rPr>
              <a:t>S</a:t>
            </a:r>
            <a:r>
              <a:rPr lang="en-US" sz="3671" i="true">
                <a:solidFill>
                  <a:srgbClr val="D6241E"/>
                </a:solidFill>
                <a:latin typeface="Montserrat Italics"/>
                <a:ea typeface="Montserrat Italics"/>
                <a:cs typeface="Montserrat Italics"/>
                <a:sym typeface="Montserrat Italics"/>
              </a:rPr>
              <a:t>ession S1 = </a:t>
            </a:r>
            <a:r>
              <a:rPr lang="en-US" sz="3671" i="true" b="true">
                <a:solidFill>
                  <a:srgbClr val="D6241E"/>
                </a:solidFill>
                <a:latin typeface="Montserrat Bold Italics"/>
                <a:ea typeface="Montserrat Bold Italics"/>
                <a:cs typeface="Montserrat Bold Italics"/>
                <a:sym typeface="Montserrat Bold Italics"/>
              </a:rPr>
              <a:t>[E</a:t>
            </a:r>
            <a:r>
              <a:rPr lang="en-US" sz="3671" i="true" b="true">
                <a:solidFill>
                  <a:srgbClr val="D6241E"/>
                </a:solidFill>
                <a:latin typeface="Montserrat Bold Italics"/>
                <a:ea typeface="Montserrat Bold Italics"/>
                <a:cs typeface="Montserrat Bold Italics"/>
                <a:sym typeface="Montserrat Bold Italics"/>
              </a:rPr>
              <a:t>1,</a:t>
            </a:r>
            <a:r>
              <a:rPr lang="en-US" sz="3671" i="true" b="true">
                <a:solidFill>
                  <a:srgbClr val="D6241E"/>
                </a:solidFill>
                <a:latin typeface="Montserrat Bold Italics"/>
                <a:ea typeface="Montserrat Bold Italics"/>
                <a:cs typeface="Montserrat Bold Italics"/>
                <a:sym typeface="Montserrat Bold Italics"/>
              </a:rPr>
              <a:t> E</a:t>
            </a:r>
            <a:r>
              <a:rPr lang="en-US" sz="3671" i="true" b="true">
                <a:solidFill>
                  <a:srgbClr val="D6241E"/>
                </a:solidFill>
                <a:latin typeface="Montserrat Bold Italics"/>
                <a:ea typeface="Montserrat Bold Italics"/>
                <a:cs typeface="Montserrat Bold Italics"/>
                <a:sym typeface="Montserrat Bold Italics"/>
              </a:rPr>
              <a:t>1,</a:t>
            </a:r>
            <a:r>
              <a:rPr lang="en-US" sz="3671" i="true" b="true">
                <a:solidFill>
                  <a:srgbClr val="D6241E"/>
                </a:solidFill>
                <a:latin typeface="Montserrat Bold Italics"/>
                <a:ea typeface="Montserrat Bold Italics"/>
                <a:cs typeface="Montserrat Bold Italics"/>
                <a:sym typeface="Montserrat Bold Italics"/>
              </a:rPr>
              <a:t> E2, E3]</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23</a:t>
            </a:r>
          </a:p>
        </p:txBody>
      </p:sp>
      <p:sp>
        <p:nvSpPr>
          <p:cNvPr name="TextBox 8" id="8"/>
          <p:cNvSpPr txBox="true"/>
          <p:nvPr/>
        </p:nvSpPr>
        <p:spPr>
          <a:xfrm rot="0">
            <a:off x="579705" y="2288138"/>
            <a:ext cx="999306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Trích xuất đặc trưng</a:t>
            </a:r>
          </a:p>
        </p:txBody>
      </p:sp>
      <p:sp>
        <p:nvSpPr>
          <p:cNvPr name="TextBox 9" id="9"/>
          <p:cNvSpPr txBox="true"/>
          <p:nvPr/>
        </p:nvSpPr>
        <p:spPr>
          <a:xfrm rot="0">
            <a:off x="579705" y="3443518"/>
            <a:ext cx="8398244" cy="4410348"/>
          </a:xfrm>
          <a:prstGeom prst="rect">
            <a:avLst/>
          </a:prstGeom>
        </p:spPr>
        <p:txBody>
          <a:bodyPr anchor="t" rtlCol="false" tIns="0" lIns="0" bIns="0" rIns="0">
            <a:spAutoFit/>
          </a:bodyPr>
          <a:lstStyle/>
          <a:p>
            <a:pPr algn="l">
              <a:lnSpc>
                <a:spcPts val="5106"/>
              </a:lnSpc>
            </a:pPr>
            <a:r>
              <a:rPr lang="en-US" sz="3171">
                <a:solidFill>
                  <a:srgbClr val="D6241E"/>
                </a:solidFill>
                <a:latin typeface="Montserrat"/>
                <a:ea typeface="Montserrat"/>
                <a:cs typeface="Montserrat"/>
                <a:sym typeface="Montserrat"/>
              </a:rPr>
              <a:t>Giả sử toàn bộ hệ thống có 5 loại sự kiện:</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E1: Received block</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E2: Verification success</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E3: Delete block</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E4: Error</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E5: Timeout</a:t>
            </a:r>
          </a:p>
          <a:p>
            <a:pPr algn="l">
              <a:lnSpc>
                <a:spcPts val="4301"/>
              </a:lnSpc>
            </a:pPr>
          </a:p>
        </p:txBody>
      </p:sp>
      <p:sp>
        <p:nvSpPr>
          <p:cNvPr name="TextBox 10" id="10"/>
          <p:cNvSpPr txBox="true"/>
          <p:nvPr/>
        </p:nvSpPr>
        <p:spPr>
          <a:xfrm rot="0">
            <a:off x="10786772" y="2984167"/>
            <a:ext cx="6067517" cy="3762648"/>
          </a:xfrm>
          <a:prstGeom prst="rect">
            <a:avLst/>
          </a:prstGeom>
        </p:spPr>
        <p:txBody>
          <a:bodyPr anchor="t" rtlCol="false" tIns="0" lIns="0" bIns="0" rIns="0">
            <a:spAutoFit/>
          </a:bodyPr>
          <a:lstStyle/>
          <a:p>
            <a:pPr algn="l">
              <a:lnSpc>
                <a:spcPts val="5106"/>
              </a:lnSpc>
            </a:pPr>
            <a:r>
              <a:rPr lang="en-US" sz="3171" i="true">
                <a:solidFill>
                  <a:srgbClr val="D6241E"/>
                </a:solidFill>
                <a:latin typeface="Montserrat Italics"/>
                <a:ea typeface="Montserrat Italics"/>
                <a:cs typeface="Montserrat Italics"/>
                <a:sym typeface="Montserrat Italics"/>
              </a:rPr>
              <a:t>Giải thích:</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E1 xuất hiện 2 lần</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E2 xuất hiện 1 lần</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E3 xuất hiện 1 lần</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E4, E5 không xuất hiện</a:t>
            </a:r>
          </a:p>
          <a:p>
            <a:pPr algn="l">
              <a:lnSpc>
                <a:spcPts val="4301"/>
              </a:lnSpc>
            </a:pPr>
          </a:p>
        </p:txBody>
      </p:sp>
      <p:sp>
        <p:nvSpPr>
          <p:cNvPr name="TextBox 11" id="11"/>
          <p:cNvSpPr txBox="true"/>
          <p:nvPr/>
        </p:nvSpPr>
        <p:spPr>
          <a:xfrm rot="0">
            <a:off x="579705" y="7418115"/>
            <a:ext cx="9371266" cy="1819548"/>
          </a:xfrm>
          <a:prstGeom prst="rect">
            <a:avLst/>
          </a:prstGeom>
        </p:spPr>
        <p:txBody>
          <a:bodyPr anchor="t" rtlCol="false" tIns="0" lIns="0" bIns="0" rIns="0">
            <a:spAutoFit/>
          </a:bodyPr>
          <a:lstStyle/>
          <a:p>
            <a:pPr algn="l">
              <a:lnSpc>
                <a:spcPts val="5106"/>
              </a:lnSpc>
            </a:pPr>
            <a:r>
              <a:rPr lang="en-US" sz="3171">
                <a:solidFill>
                  <a:srgbClr val="D6241E"/>
                </a:solidFill>
                <a:latin typeface="Montserrat"/>
                <a:ea typeface="Montserrat"/>
                <a:cs typeface="Montserrat"/>
                <a:sym typeface="Montserrat"/>
              </a:rPr>
              <a:t>Khi đó </a:t>
            </a:r>
            <a:r>
              <a:rPr lang="en-US" sz="3171" b="true">
                <a:solidFill>
                  <a:srgbClr val="D6241E"/>
                </a:solidFill>
                <a:latin typeface="Montserrat Bold"/>
                <a:ea typeface="Montserrat Bold"/>
                <a:cs typeface="Montserrat Bold"/>
                <a:sym typeface="Montserrat Bold"/>
              </a:rPr>
              <a:t>session S1 = [E1, E1, E2, E3]</a:t>
            </a:r>
            <a:r>
              <a:rPr lang="en-US" sz="3171">
                <a:solidFill>
                  <a:srgbClr val="D6241E"/>
                </a:solidFill>
                <a:latin typeface="Montserrat"/>
                <a:ea typeface="Montserrat"/>
                <a:cs typeface="Montserrat"/>
                <a:sym typeface="Montserrat"/>
              </a:rPr>
              <a:t> sẽ được biểu diễn thành: </a:t>
            </a:r>
            <a:r>
              <a:rPr lang="en-US" sz="3171" b="true">
                <a:solidFill>
                  <a:srgbClr val="D6241E"/>
                </a:solidFill>
                <a:latin typeface="Montserrat Bold"/>
                <a:ea typeface="Montserrat Bold"/>
                <a:cs typeface="Montserrat Bold"/>
                <a:sym typeface="Montserrat Bold"/>
              </a:rPr>
              <a:t>Vector S1 = [2, 1, 1, 0, 0] </a:t>
            </a:r>
          </a:p>
          <a:p>
            <a:pPr algn="l">
              <a:lnSpc>
                <a:spcPts val="4301"/>
              </a:lnSpc>
            </a:pPr>
          </a:p>
        </p:txBody>
      </p:sp>
      <p:sp>
        <p:nvSpPr>
          <p:cNvPr name="TextBox 12" id="12"/>
          <p:cNvSpPr txBox="true"/>
          <p:nvPr/>
        </p:nvSpPr>
        <p:spPr>
          <a:xfrm rot="0">
            <a:off x="9559615" y="8022539"/>
            <a:ext cx="9371266" cy="620224"/>
          </a:xfrm>
          <a:prstGeom prst="rect">
            <a:avLst/>
          </a:prstGeom>
        </p:spPr>
        <p:txBody>
          <a:bodyPr anchor="t" rtlCol="false" tIns="0" lIns="0" bIns="0" rIns="0">
            <a:spAutoFit/>
          </a:bodyPr>
          <a:lstStyle/>
          <a:p>
            <a:pPr algn="l">
              <a:lnSpc>
                <a:spcPts val="5267"/>
              </a:lnSpc>
            </a:pPr>
            <a:r>
              <a:rPr lang="en-US" sz="3271" b="true">
                <a:solidFill>
                  <a:srgbClr val="D6241E"/>
                </a:solidFill>
                <a:latin typeface="Montserrat Bold"/>
                <a:ea typeface="Montserrat Bold"/>
                <a:cs typeface="Montserrat Bold"/>
                <a:sym typeface="Montserrat Bold"/>
              </a:rPr>
              <a:t>→ Event count vector</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2141416"/>
            <a:chOff x="0" y="0"/>
            <a:chExt cx="4816593" cy="563994"/>
          </a:xfrm>
        </p:grpSpPr>
        <p:sp>
          <p:nvSpPr>
            <p:cNvPr name="Freeform 3" id="3"/>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4" id="4"/>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24</a:t>
            </a:r>
          </a:p>
        </p:txBody>
      </p:sp>
      <p:sp>
        <p:nvSpPr>
          <p:cNvPr name="TextBox 8" id="8"/>
          <p:cNvSpPr txBox="true"/>
          <p:nvPr/>
        </p:nvSpPr>
        <p:spPr>
          <a:xfrm rot="0">
            <a:off x="1028700" y="2308128"/>
            <a:ext cx="9993063" cy="769068"/>
          </a:xfrm>
          <a:prstGeom prst="rect">
            <a:avLst/>
          </a:prstGeom>
        </p:spPr>
        <p:txBody>
          <a:bodyPr anchor="t" rtlCol="false" tIns="0" lIns="0" bIns="0" rIns="0">
            <a:spAutoFit/>
          </a:bodyPr>
          <a:lstStyle/>
          <a:p>
            <a:pPr algn="l">
              <a:lnSpc>
                <a:spcPts val="6555"/>
              </a:lnSpc>
            </a:pPr>
            <a:r>
              <a:rPr lang="en-US" sz="4071" b="true">
                <a:solidFill>
                  <a:srgbClr val="D6241E"/>
                </a:solidFill>
                <a:latin typeface="Montserrat Bold"/>
                <a:ea typeface="Montserrat Bold"/>
                <a:cs typeface="Montserrat Bold"/>
                <a:sym typeface="Montserrat Bold"/>
              </a:rPr>
              <a:t>Đưa vào mô hình phát hiện</a:t>
            </a:r>
          </a:p>
        </p:txBody>
      </p:sp>
      <p:sp>
        <p:nvSpPr>
          <p:cNvPr name="TextBox 9" id="9"/>
          <p:cNvSpPr txBox="true"/>
          <p:nvPr/>
        </p:nvSpPr>
        <p:spPr>
          <a:xfrm rot="0">
            <a:off x="1028700" y="3262958"/>
            <a:ext cx="14756828" cy="5058048"/>
          </a:xfrm>
          <a:prstGeom prst="rect">
            <a:avLst/>
          </a:prstGeom>
        </p:spPr>
        <p:txBody>
          <a:bodyPr anchor="t" rtlCol="false" tIns="0" lIns="0" bIns="0" rIns="0">
            <a:spAutoFit/>
          </a:bodyPr>
          <a:lstStyle/>
          <a:p>
            <a:pPr algn="l">
              <a:lnSpc>
                <a:spcPts val="5106"/>
              </a:lnSpc>
            </a:pPr>
            <a:r>
              <a:rPr lang="en-US" sz="3171">
                <a:solidFill>
                  <a:srgbClr val="D6241E"/>
                </a:solidFill>
                <a:latin typeface="Montserrat"/>
                <a:ea typeface="Montserrat"/>
                <a:cs typeface="Montserrat"/>
                <a:sym typeface="Montserrat"/>
              </a:rPr>
              <a:t>Vector đặc trưng sẽ được đưa vào mô hình:</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Nếu mẫu giống hành vi bình thường → Normal (0)</a:t>
            </a:r>
          </a:p>
          <a:p>
            <a:pPr algn="l" marL="684745" indent="-342373" lvl="1">
              <a:lnSpc>
                <a:spcPts val="5106"/>
              </a:lnSpc>
              <a:buFont typeface="Arial"/>
              <a:buChar char="•"/>
            </a:pPr>
            <a:r>
              <a:rPr lang="en-US" sz="3171">
                <a:solidFill>
                  <a:srgbClr val="D6241E"/>
                </a:solidFill>
                <a:latin typeface="Montserrat"/>
                <a:ea typeface="Montserrat"/>
                <a:cs typeface="Montserrat"/>
                <a:sym typeface="Montserrat"/>
              </a:rPr>
              <a:t>Nếu mẫu có phân bố sự kiện bất thường → Anomaly (1)</a:t>
            </a:r>
          </a:p>
          <a:p>
            <a:pPr algn="l">
              <a:lnSpc>
                <a:spcPts val="5106"/>
              </a:lnSpc>
            </a:pPr>
            <a:r>
              <a:rPr lang="en-US" sz="3171">
                <a:solidFill>
                  <a:srgbClr val="D6241E"/>
                </a:solidFill>
                <a:latin typeface="Montserrat"/>
                <a:ea typeface="Montserrat"/>
                <a:cs typeface="Montserrat"/>
                <a:sym typeface="Montserrat"/>
              </a:rPr>
              <a:t>Ví dụ:</a:t>
            </a:r>
          </a:p>
          <a:p>
            <a:pPr algn="l" marL="684745" indent="-342373" lvl="1">
              <a:lnSpc>
                <a:spcPts val="5106"/>
              </a:lnSpc>
              <a:buFont typeface="Arial"/>
              <a:buChar char="•"/>
            </a:pPr>
            <a:r>
              <a:rPr lang="en-US" b="true" sz="3171">
                <a:solidFill>
                  <a:srgbClr val="D6241E"/>
                </a:solidFill>
                <a:latin typeface="Montserrat Bold"/>
                <a:ea typeface="Montserrat Bold"/>
                <a:cs typeface="Montserrat Bold"/>
                <a:sym typeface="Montserrat Bold"/>
              </a:rPr>
              <a:t>S</a:t>
            </a:r>
            <a:r>
              <a:rPr lang="en-US" b="true" sz="3171">
                <a:solidFill>
                  <a:srgbClr val="D6241E"/>
                </a:solidFill>
                <a:latin typeface="Montserrat Bold"/>
                <a:ea typeface="Montserrat Bold"/>
                <a:cs typeface="Montserrat Bold"/>
                <a:sym typeface="Montserrat Bold"/>
              </a:rPr>
              <a:t>1 = [2,1,1,0,0]</a:t>
            </a:r>
            <a:r>
              <a:rPr lang="en-US" sz="3171">
                <a:solidFill>
                  <a:srgbClr val="D6241E"/>
                </a:solidFill>
                <a:latin typeface="Montserrat"/>
                <a:ea typeface="Montserrat"/>
                <a:cs typeface="Montserrat"/>
                <a:sym typeface="Montserrat"/>
              </a:rPr>
              <a:t> → có thể được dự đoán là </a:t>
            </a:r>
            <a:r>
              <a:rPr lang="en-US" b="true" sz="3171">
                <a:solidFill>
                  <a:srgbClr val="D6241E"/>
                </a:solidFill>
                <a:latin typeface="Montserrat Bold"/>
                <a:ea typeface="Montserrat Bold"/>
                <a:cs typeface="Montserrat Bold"/>
                <a:sym typeface="Montserrat Bold"/>
              </a:rPr>
              <a:t>bình thường</a:t>
            </a:r>
          </a:p>
          <a:p>
            <a:pPr algn="l" marL="684745" indent="-342373" lvl="1">
              <a:lnSpc>
                <a:spcPts val="5106"/>
              </a:lnSpc>
              <a:buFont typeface="Arial"/>
              <a:buChar char="•"/>
            </a:pPr>
            <a:r>
              <a:rPr lang="en-US" b="true" sz="3171">
                <a:solidFill>
                  <a:srgbClr val="D6241E"/>
                </a:solidFill>
                <a:latin typeface="Montserrat Bold"/>
                <a:ea typeface="Montserrat Bold"/>
                <a:cs typeface="Montserrat Bold"/>
                <a:sym typeface="Montserrat Bold"/>
              </a:rPr>
              <a:t>S2 = [0,0,1,3,2]</a:t>
            </a:r>
            <a:r>
              <a:rPr lang="en-US" sz="3171">
                <a:solidFill>
                  <a:srgbClr val="D6241E"/>
                </a:solidFill>
                <a:latin typeface="Montserrat"/>
                <a:ea typeface="Montserrat"/>
                <a:cs typeface="Montserrat"/>
                <a:sym typeface="Montserrat"/>
              </a:rPr>
              <a:t> → có nhiều </a:t>
            </a:r>
            <a:r>
              <a:rPr lang="en-US" sz="3171" i="true">
                <a:solidFill>
                  <a:srgbClr val="D6241E"/>
                </a:solidFill>
                <a:latin typeface="Montserrat Italics"/>
                <a:ea typeface="Montserrat Italics"/>
                <a:cs typeface="Montserrat Italics"/>
                <a:sym typeface="Montserrat Italics"/>
              </a:rPr>
              <a:t>lỗi/timeout</a:t>
            </a:r>
            <a:r>
              <a:rPr lang="en-US" sz="3171">
                <a:solidFill>
                  <a:srgbClr val="D6241E"/>
                </a:solidFill>
                <a:latin typeface="Montserrat"/>
                <a:ea typeface="Montserrat"/>
                <a:cs typeface="Montserrat"/>
                <a:sym typeface="Montserrat"/>
              </a:rPr>
              <a:t> → có thể được dự đoán là </a:t>
            </a:r>
            <a:r>
              <a:rPr lang="en-US" b="true" sz="3171">
                <a:solidFill>
                  <a:srgbClr val="D6241E"/>
                </a:solidFill>
                <a:latin typeface="Montserrat Bold"/>
                <a:ea typeface="Montserrat Bold"/>
                <a:cs typeface="Montserrat Bold"/>
                <a:sym typeface="Montserrat Bold"/>
              </a:rPr>
              <a:t>bất thường</a:t>
            </a:r>
          </a:p>
          <a:p>
            <a:pPr algn="l">
              <a:lnSpc>
                <a:spcPts val="4301"/>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77886" y="2141416"/>
            <a:ext cx="14205095" cy="9051707"/>
          </a:xfrm>
          <a:custGeom>
            <a:avLst/>
            <a:gdLst/>
            <a:ahLst/>
            <a:cxnLst/>
            <a:rect r="r" b="b" t="t" l="l"/>
            <a:pathLst>
              <a:path h="9051707" w="14205095">
                <a:moveTo>
                  <a:pt x="0" y="0"/>
                </a:moveTo>
                <a:lnTo>
                  <a:pt x="14205095" y="0"/>
                </a:lnTo>
                <a:lnTo>
                  <a:pt x="14205095" y="9051708"/>
                </a:lnTo>
                <a:lnTo>
                  <a:pt x="0" y="9051708"/>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25</a:t>
            </a:r>
          </a:p>
        </p:txBody>
      </p:sp>
      <p:grpSp>
        <p:nvGrpSpPr>
          <p:cNvPr name="Group 4" id="4"/>
          <p:cNvGrpSpPr/>
          <p:nvPr/>
        </p:nvGrpSpPr>
        <p:grpSpPr>
          <a:xfrm rot="0">
            <a:off x="0" y="0"/>
            <a:ext cx="18288000" cy="2141416"/>
            <a:chOff x="0" y="0"/>
            <a:chExt cx="4816593" cy="563994"/>
          </a:xfrm>
        </p:grpSpPr>
        <p:sp>
          <p:nvSpPr>
            <p:cNvPr name="Freeform 5" id="5"/>
            <p:cNvSpPr/>
            <p:nvPr/>
          </p:nvSpPr>
          <p:spPr>
            <a:xfrm flipH="false" flipV="false" rot="0">
              <a:off x="0" y="0"/>
              <a:ext cx="4816592" cy="563994"/>
            </a:xfrm>
            <a:custGeom>
              <a:avLst/>
              <a:gdLst/>
              <a:ahLst/>
              <a:cxnLst/>
              <a:rect r="r" b="b" t="t" l="l"/>
              <a:pathLst>
                <a:path h="563994" w="4816592">
                  <a:moveTo>
                    <a:pt x="0" y="0"/>
                  </a:moveTo>
                  <a:lnTo>
                    <a:pt x="4816592" y="0"/>
                  </a:lnTo>
                  <a:lnTo>
                    <a:pt x="4816592" y="563994"/>
                  </a:lnTo>
                  <a:lnTo>
                    <a:pt x="0" y="563994"/>
                  </a:lnTo>
                  <a:close/>
                </a:path>
              </a:pathLst>
            </a:custGeom>
            <a:solidFill>
              <a:srgbClr val="DD4904"/>
            </a:solidFill>
          </p:spPr>
        </p:sp>
        <p:sp>
          <p:nvSpPr>
            <p:cNvPr name="TextBox 6" id="6"/>
            <p:cNvSpPr txBox="true"/>
            <p:nvPr/>
          </p:nvSpPr>
          <p:spPr>
            <a:xfrm>
              <a:off x="0" y="-38100"/>
              <a:ext cx="4816593" cy="602094"/>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579705" y="266698"/>
            <a:ext cx="16894805" cy="1588137"/>
          </a:xfrm>
          <a:prstGeom prst="rect">
            <a:avLst/>
          </a:prstGeom>
        </p:spPr>
        <p:txBody>
          <a:bodyPr anchor="t" rtlCol="false" tIns="0" lIns="0" bIns="0" rIns="0">
            <a:spAutoFit/>
          </a:bodyPr>
          <a:lstStyle/>
          <a:p>
            <a:pPr algn="l">
              <a:lnSpc>
                <a:spcPts val="6439"/>
              </a:lnSpc>
              <a:spcBef>
                <a:spcPct val="0"/>
              </a:spcBef>
            </a:pPr>
            <a:r>
              <a:rPr lang="en-US" b="true" sz="4599">
                <a:solidFill>
                  <a:srgbClr val="FFFFFF"/>
                </a:solidFill>
                <a:latin typeface="Montserrat Bold"/>
                <a:ea typeface="Montserrat Bold"/>
                <a:cs typeface="Montserrat Bold"/>
                <a:sym typeface="Montserrat Bold"/>
              </a:rPr>
              <a:t>Đề xuất mô hình phát hiện bất thường từ nhật ký hệ thống</a:t>
            </a: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4435362" cy="10287000"/>
            <a:chOff x="0" y="0"/>
            <a:chExt cx="1168161" cy="2709333"/>
          </a:xfrm>
        </p:grpSpPr>
        <p:sp>
          <p:nvSpPr>
            <p:cNvPr name="Freeform 3" id="3"/>
            <p:cNvSpPr/>
            <p:nvPr/>
          </p:nvSpPr>
          <p:spPr>
            <a:xfrm flipH="false" flipV="false" rot="0">
              <a:off x="0" y="0"/>
              <a:ext cx="1168161" cy="2709333"/>
            </a:xfrm>
            <a:custGeom>
              <a:avLst/>
              <a:gdLst/>
              <a:ahLst/>
              <a:cxnLst/>
              <a:rect r="r" b="b" t="t" l="l"/>
              <a:pathLst>
                <a:path h="2709333" w="1168161">
                  <a:moveTo>
                    <a:pt x="0" y="0"/>
                  </a:moveTo>
                  <a:lnTo>
                    <a:pt x="1168161" y="0"/>
                  </a:lnTo>
                  <a:lnTo>
                    <a:pt x="1168161" y="2709333"/>
                  </a:lnTo>
                  <a:lnTo>
                    <a:pt x="0" y="2709333"/>
                  </a:lnTo>
                  <a:close/>
                </a:path>
              </a:pathLst>
            </a:custGeom>
            <a:solidFill>
              <a:srgbClr val="DD4904"/>
            </a:solidFill>
          </p:spPr>
        </p:sp>
        <p:sp>
          <p:nvSpPr>
            <p:cNvPr name="TextBox 4" id="4"/>
            <p:cNvSpPr txBox="true"/>
            <p:nvPr/>
          </p:nvSpPr>
          <p:spPr>
            <a:xfrm>
              <a:off x="0" y="-38100"/>
              <a:ext cx="1168161"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729400" y="4260848"/>
            <a:ext cx="2976562" cy="1111253"/>
          </a:xfrm>
          <a:prstGeom prst="rect">
            <a:avLst/>
          </a:prstGeom>
        </p:spPr>
        <p:txBody>
          <a:bodyPr anchor="t" rtlCol="false" tIns="0" lIns="0" bIns="0" rIns="0">
            <a:spAutoFit/>
          </a:bodyPr>
          <a:lstStyle/>
          <a:p>
            <a:pPr algn="ctr">
              <a:lnSpc>
                <a:spcPts val="9099"/>
              </a:lnSpc>
              <a:spcBef>
                <a:spcPct val="0"/>
              </a:spcBef>
            </a:pPr>
            <a:r>
              <a:rPr lang="en-US" b="true" sz="6499">
                <a:solidFill>
                  <a:srgbClr val="FFFFFF"/>
                </a:solidFill>
                <a:latin typeface="Montserrat Bold"/>
                <a:ea typeface="Montserrat Bold"/>
                <a:cs typeface="Montserrat Bold"/>
                <a:sym typeface="Montserrat Bold"/>
              </a:rPr>
              <a:t>Phần 3</a:t>
            </a:r>
          </a:p>
        </p:txBody>
      </p:sp>
      <p:sp>
        <p:nvSpPr>
          <p:cNvPr name="TextBox 6" id="6"/>
          <p:cNvSpPr txBox="true"/>
          <p:nvPr/>
        </p:nvSpPr>
        <p:spPr>
          <a:xfrm rot="0">
            <a:off x="6165947" y="4146547"/>
            <a:ext cx="11093353" cy="1111253"/>
          </a:xfrm>
          <a:prstGeom prst="rect">
            <a:avLst/>
          </a:prstGeom>
        </p:spPr>
        <p:txBody>
          <a:bodyPr anchor="t" rtlCol="false" tIns="0" lIns="0" bIns="0" rIns="0">
            <a:spAutoFit/>
          </a:bodyPr>
          <a:lstStyle/>
          <a:p>
            <a:pPr algn="l">
              <a:lnSpc>
                <a:spcPts val="9099"/>
              </a:lnSpc>
              <a:spcBef>
                <a:spcPct val="0"/>
              </a:spcBef>
            </a:pPr>
            <a:r>
              <a:rPr lang="en-US" b="true" sz="6499">
                <a:solidFill>
                  <a:srgbClr val="D6241E"/>
                </a:solidFill>
                <a:latin typeface="Montserrat Bold"/>
                <a:ea typeface="Montserrat Bold"/>
                <a:cs typeface="Montserrat Bold"/>
                <a:sym typeface="Montserrat Bold"/>
              </a:rPr>
              <a:t>Thực nghiệm và đánh giá</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26</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5798906" y="185568"/>
            <a:ext cx="6690188"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Mục tiêu thực nghiệm</a:t>
            </a:r>
          </a:p>
        </p:txBody>
      </p:sp>
      <p:sp>
        <p:nvSpPr>
          <p:cNvPr name="TextBox 7" id="7"/>
          <p:cNvSpPr txBox="true"/>
          <p:nvPr/>
        </p:nvSpPr>
        <p:spPr>
          <a:xfrm rot="0">
            <a:off x="654698" y="2010016"/>
            <a:ext cx="16604602" cy="3661283"/>
          </a:xfrm>
          <a:prstGeom prst="rect">
            <a:avLst/>
          </a:prstGeom>
        </p:spPr>
        <p:txBody>
          <a:bodyPr anchor="t" rtlCol="false" tIns="0" lIns="0" bIns="0" rIns="0">
            <a:spAutoFit/>
          </a:bodyPr>
          <a:lstStyle/>
          <a:p>
            <a:pPr algn="just" marL="793973" indent="-396987" lvl="1">
              <a:lnSpc>
                <a:spcPts val="5884"/>
              </a:lnSpc>
              <a:buFont typeface="Arial"/>
              <a:buChar char="•"/>
            </a:pPr>
            <a:r>
              <a:rPr lang="en-US" sz="3677" spc="125">
                <a:solidFill>
                  <a:srgbClr val="D6241E"/>
                </a:solidFill>
                <a:latin typeface="Montserrat"/>
                <a:ea typeface="Montserrat"/>
                <a:cs typeface="Montserrat"/>
                <a:sym typeface="Montserrat"/>
              </a:rPr>
              <a:t>Kiểm tra tính hiệu quả của mô hình Decision Tree.</a:t>
            </a:r>
          </a:p>
          <a:p>
            <a:pPr algn="just" marL="793973" indent="-396987" lvl="1">
              <a:lnSpc>
                <a:spcPts val="5884"/>
              </a:lnSpc>
              <a:buFont typeface="Arial"/>
              <a:buChar char="•"/>
            </a:pPr>
            <a:r>
              <a:rPr lang="en-US" sz="3677" spc="125">
                <a:solidFill>
                  <a:srgbClr val="D6241E"/>
                </a:solidFill>
                <a:latin typeface="Montserrat"/>
                <a:ea typeface="Montserrat"/>
                <a:cs typeface="Montserrat"/>
                <a:sym typeface="Montserrat"/>
              </a:rPr>
              <a:t>So sánh với các phương pháp học máy có giám sát khác là Logistic Regression và SVM, và các phương pháp học máy không giám sát là Log Clustering, Invariant Mining và PCA nhằm làm rõ vị trí và hiệu quả của từng mô hình cho bài toán.</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27</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3800413" y="276223"/>
            <a:ext cx="10687173" cy="752477"/>
          </a:xfrm>
          <a:prstGeom prst="rect">
            <a:avLst/>
          </a:prstGeom>
        </p:spPr>
        <p:txBody>
          <a:bodyPr anchor="t" rtlCol="false" tIns="0" lIns="0" bIns="0" rIns="0">
            <a:spAutoFit/>
          </a:bodyPr>
          <a:lstStyle/>
          <a:p>
            <a:pPr algn="ctr">
              <a:lnSpc>
                <a:spcPts val="6299"/>
              </a:lnSpc>
              <a:spcBef>
                <a:spcPct val="0"/>
              </a:spcBef>
            </a:pPr>
            <a:r>
              <a:rPr lang="en-US" b="true" sz="4499">
                <a:solidFill>
                  <a:srgbClr val="FFFFFF"/>
                </a:solidFill>
                <a:latin typeface="Montserrat Bold"/>
                <a:ea typeface="Montserrat Bold"/>
                <a:cs typeface="Montserrat Bold"/>
                <a:sym typeface="Montserrat Bold"/>
              </a:rPr>
              <a:t>Bộ dữ liệu và thiết lập thực nghiệm</a:t>
            </a:r>
          </a:p>
        </p:txBody>
      </p:sp>
      <p:sp>
        <p:nvSpPr>
          <p:cNvPr name="TextBox 7" id="7"/>
          <p:cNvSpPr txBox="true"/>
          <p:nvPr/>
        </p:nvSpPr>
        <p:spPr>
          <a:xfrm rot="0">
            <a:off x="764321" y="1950918"/>
            <a:ext cx="16279795" cy="6797675"/>
          </a:xfrm>
          <a:prstGeom prst="rect">
            <a:avLst/>
          </a:prstGeom>
        </p:spPr>
        <p:txBody>
          <a:bodyPr anchor="t" rtlCol="false" tIns="0" lIns="0" bIns="0" rIns="0">
            <a:spAutoFit/>
          </a:bodyPr>
          <a:lstStyle/>
          <a:p>
            <a:pPr algn="just" marL="755652" indent="-377826" lvl="1">
              <a:lnSpc>
                <a:spcPts val="4900"/>
              </a:lnSpc>
              <a:buFont typeface="Arial"/>
              <a:buChar char="•"/>
            </a:pPr>
            <a:r>
              <a:rPr lang="en-US" sz="3500">
                <a:solidFill>
                  <a:srgbClr val="D6241E"/>
                </a:solidFill>
                <a:latin typeface="Montserrat"/>
                <a:ea typeface="Montserrat"/>
                <a:cs typeface="Montserrat"/>
                <a:sym typeface="Montserrat"/>
              </a:rPr>
              <a:t>Dữ liệu log HDFS được thu thập từ nền tảng Amazon EC2, có thời gian ghi nhận 38.7 giờ, dung lượng khoảng 1.55GB, chứa tổng cộng 11.175.629 thông điệp log.</a:t>
            </a:r>
          </a:p>
          <a:p>
            <a:pPr algn="just" marL="755652" indent="-377826" lvl="1">
              <a:lnSpc>
                <a:spcPts val="4900"/>
              </a:lnSpc>
              <a:buFont typeface="Arial"/>
              <a:buChar char="•"/>
            </a:pPr>
            <a:r>
              <a:rPr lang="en-US" sz="3500">
                <a:solidFill>
                  <a:srgbClr val="D6241E"/>
                </a:solidFill>
                <a:latin typeface="Montserrat"/>
                <a:ea typeface="Montserrat"/>
                <a:cs typeface="Montserrat"/>
                <a:sym typeface="Montserrat"/>
              </a:rPr>
              <a:t>Dữ liệu sẽ được chia làm 2 phần, 80% cho huấn luyện và 20% cho kiểm thử.</a:t>
            </a:r>
          </a:p>
          <a:p>
            <a:pPr algn="just" marL="755652" indent="-377826" lvl="1">
              <a:lnSpc>
                <a:spcPts val="4900"/>
              </a:lnSpc>
              <a:buFont typeface="Arial"/>
              <a:buChar char="•"/>
            </a:pPr>
            <a:r>
              <a:rPr lang="en-US" sz="3500">
                <a:solidFill>
                  <a:srgbClr val="D6241E"/>
                </a:solidFill>
                <a:latin typeface="Montserrat"/>
                <a:ea typeface="Montserrat"/>
                <a:cs typeface="Montserrat"/>
                <a:sym typeface="Montserrat"/>
              </a:rPr>
              <a:t>Các chỉ số đánh giá được sử dụng gồm Precision, Recall và F1-score.</a:t>
            </a:r>
          </a:p>
          <a:p>
            <a:pPr algn="just" marL="755652" indent="-377826" lvl="1">
              <a:lnSpc>
                <a:spcPts val="4900"/>
              </a:lnSpc>
              <a:buFont typeface="Arial"/>
              <a:buChar char="•"/>
            </a:pPr>
            <a:r>
              <a:rPr lang="en-US" sz="3500">
                <a:solidFill>
                  <a:srgbClr val="D6241E"/>
                </a:solidFill>
                <a:latin typeface="Montserrat"/>
                <a:ea typeface="Montserrat"/>
                <a:cs typeface="Montserrat"/>
                <a:sym typeface="Montserrat"/>
              </a:rPr>
              <a:t>HDFS được chọn vì:</a:t>
            </a:r>
          </a:p>
          <a:p>
            <a:pPr algn="just" marL="1511304" indent="-503768" lvl="2">
              <a:lnSpc>
                <a:spcPts val="4900"/>
              </a:lnSpc>
              <a:buFont typeface="Arial"/>
              <a:buChar char="⚬"/>
            </a:pPr>
            <a:r>
              <a:rPr lang="en-US" sz="3500">
                <a:solidFill>
                  <a:srgbClr val="D6241E"/>
                </a:solidFill>
                <a:latin typeface="Montserrat"/>
                <a:ea typeface="Montserrat"/>
                <a:cs typeface="Montserrat"/>
                <a:sym typeface="Montserrat"/>
              </a:rPr>
              <a:t>1 block_id liên quan đến 1 thao tác =&gt; dễ gom nhóm theo session.</a:t>
            </a:r>
          </a:p>
          <a:p>
            <a:pPr algn="just" marL="1511304" indent="-503768" lvl="2">
              <a:lnSpc>
                <a:spcPts val="4900"/>
              </a:lnSpc>
              <a:buFont typeface="Arial"/>
              <a:buChar char="⚬"/>
            </a:pPr>
            <a:r>
              <a:rPr lang="en-US" sz="3500">
                <a:solidFill>
                  <a:srgbClr val="D6241E"/>
                </a:solidFill>
                <a:latin typeface="Montserrat"/>
                <a:ea typeface="Montserrat"/>
                <a:cs typeface="Montserrat"/>
                <a:sym typeface="Montserrat"/>
              </a:rPr>
              <a:t>Có 29 loại sự kiện, ít hơn nhiều so với các loại log khác.</a:t>
            </a:r>
          </a:p>
          <a:p>
            <a:pPr algn="just" marL="1511304" indent="-503768" lvl="2">
              <a:lnSpc>
                <a:spcPts val="4900"/>
              </a:lnSpc>
              <a:buFont typeface="Arial"/>
              <a:buChar char="⚬"/>
            </a:pPr>
            <a:r>
              <a:rPr lang="en-US" sz="3500">
                <a:solidFill>
                  <a:srgbClr val="D6241E"/>
                </a:solidFill>
                <a:latin typeface="Montserrat"/>
                <a:ea typeface="Montserrat"/>
                <a:cs typeface="Montserrat"/>
                <a:sym typeface="Montserrat"/>
              </a:rPr>
              <a:t>Log khi được gom theo block_id thì mức tương quan giữa các sự kiện trong chuỗi log tăng lên đáng kể.</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28</a:t>
            </a: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6220899" y="185568"/>
            <a:ext cx="584620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Các độ đo đánh giá</a:t>
            </a:r>
          </a:p>
        </p:txBody>
      </p:sp>
      <p:sp>
        <p:nvSpPr>
          <p:cNvPr name="TextBox 7" id="7"/>
          <p:cNvSpPr txBox="true"/>
          <p:nvPr/>
        </p:nvSpPr>
        <p:spPr>
          <a:xfrm rot="0">
            <a:off x="317058" y="3343340"/>
            <a:ext cx="16942242" cy="4041076"/>
          </a:xfrm>
          <a:prstGeom prst="rect">
            <a:avLst/>
          </a:prstGeom>
        </p:spPr>
        <p:txBody>
          <a:bodyPr anchor="t" rtlCol="false" tIns="0" lIns="0" bIns="0" rIns="0">
            <a:spAutoFit/>
          </a:bodyPr>
          <a:lstStyle/>
          <a:p>
            <a:pPr algn="just" marL="707615" indent="-353808" lvl="1">
              <a:lnSpc>
                <a:spcPts val="4588"/>
              </a:lnSpc>
              <a:buFont typeface="Arial"/>
              <a:buChar char="•"/>
            </a:pPr>
            <a:r>
              <a:rPr lang="en-US" sz="3277">
                <a:solidFill>
                  <a:srgbClr val="D6241E"/>
                </a:solidFill>
                <a:latin typeface="Montserrat"/>
                <a:ea typeface="Montserrat"/>
                <a:cs typeface="Montserrat"/>
                <a:sym typeface="Montserrat"/>
              </a:rPr>
              <a:t>Sử dụng các chỉ số Precision, Recall và F1- score.</a:t>
            </a:r>
          </a:p>
          <a:p>
            <a:pPr algn="just" marL="1415231" indent="-471744" lvl="2">
              <a:lnSpc>
                <a:spcPts val="4588"/>
              </a:lnSpc>
              <a:buFont typeface="Arial"/>
              <a:buChar char="⚬"/>
            </a:pPr>
            <a:r>
              <a:rPr lang="en-US" sz="3277">
                <a:solidFill>
                  <a:srgbClr val="D6241E"/>
                </a:solidFill>
                <a:latin typeface="Montserrat"/>
                <a:ea typeface="Montserrat"/>
                <a:cs typeface="Montserrat"/>
                <a:sym typeface="Montserrat"/>
              </a:rPr>
              <a:t>Precision phản ánh tỷ lệ các phiên được dự đoán là bất thường mà thực sự bất thường.</a:t>
            </a:r>
          </a:p>
          <a:p>
            <a:pPr algn="just" marL="1415231" indent="-471744" lvl="2">
              <a:lnSpc>
                <a:spcPts val="4588"/>
              </a:lnSpc>
              <a:buFont typeface="Arial"/>
              <a:buChar char="⚬"/>
            </a:pPr>
            <a:r>
              <a:rPr lang="en-US" sz="3277">
                <a:solidFill>
                  <a:srgbClr val="D6241E"/>
                </a:solidFill>
                <a:latin typeface="Montserrat"/>
                <a:ea typeface="Montserrat"/>
                <a:cs typeface="Montserrat"/>
                <a:sym typeface="Montserrat"/>
              </a:rPr>
              <a:t>Recall phản ánh tỷ lệ các phiên bất thường thực sự được mô hình phát hiện.</a:t>
            </a:r>
          </a:p>
          <a:p>
            <a:pPr algn="just" marL="1415231" indent="-471744" lvl="2">
              <a:lnSpc>
                <a:spcPts val="4588"/>
              </a:lnSpc>
              <a:buFont typeface="Arial"/>
              <a:buChar char="⚬"/>
            </a:pPr>
            <a:r>
              <a:rPr lang="en-US" sz="3277">
                <a:solidFill>
                  <a:srgbClr val="D6241E"/>
                </a:solidFill>
                <a:latin typeface="Montserrat"/>
                <a:ea typeface="Montserrat"/>
                <a:cs typeface="Montserrat"/>
                <a:sym typeface="Montserrat"/>
              </a:rPr>
              <a:t>F1-score là trung bình điều hòa giữa Precision và Recall, dùng để đánh giá tổng hợp hiệu quả của mô hình.</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1028700" y="2257206"/>
            <a:ext cx="11301259" cy="3065466"/>
          </a:xfrm>
          <a:custGeom>
            <a:avLst/>
            <a:gdLst/>
            <a:ahLst/>
            <a:cxnLst/>
            <a:rect r="r" b="b" t="t" l="l"/>
            <a:pathLst>
              <a:path h="3065466" w="11301259">
                <a:moveTo>
                  <a:pt x="0" y="0"/>
                </a:moveTo>
                <a:lnTo>
                  <a:pt x="11301259" y="0"/>
                </a:lnTo>
                <a:lnTo>
                  <a:pt x="11301259" y="3065466"/>
                </a:lnTo>
                <a:lnTo>
                  <a:pt x="0" y="3065466"/>
                </a:lnTo>
                <a:lnTo>
                  <a:pt x="0" y="0"/>
                </a:lnTo>
                <a:close/>
              </a:path>
            </a:pathLst>
          </a:custGeom>
          <a:blipFill>
            <a:blip r:embed="rId2"/>
            <a:stretch>
              <a:fillRect l="0" t="0" r="0" b="0"/>
            </a:stretch>
          </a:blipFill>
        </p:spPr>
      </p:sp>
      <p:sp>
        <p:nvSpPr>
          <p:cNvPr name="Freeform 7" id="7"/>
          <p:cNvSpPr/>
          <p:nvPr/>
        </p:nvSpPr>
        <p:spPr>
          <a:xfrm flipH="false" flipV="false" rot="0">
            <a:off x="1028700" y="6077032"/>
            <a:ext cx="11301259" cy="3051340"/>
          </a:xfrm>
          <a:custGeom>
            <a:avLst/>
            <a:gdLst/>
            <a:ahLst/>
            <a:cxnLst/>
            <a:rect r="r" b="b" t="t" l="l"/>
            <a:pathLst>
              <a:path h="3051340" w="11301259">
                <a:moveTo>
                  <a:pt x="0" y="0"/>
                </a:moveTo>
                <a:lnTo>
                  <a:pt x="11301259" y="0"/>
                </a:lnTo>
                <a:lnTo>
                  <a:pt x="11301259" y="3051340"/>
                </a:lnTo>
                <a:lnTo>
                  <a:pt x="0" y="3051340"/>
                </a:lnTo>
                <a:lnTo>
                  <a:pt x="0" y="0"/>
                </a:lnTo>
                <a:close/>
              </a:path>
            </a:pathLst>
          </a:custGeom>
          <a:blipFill>
            <a:blip r:embed="rId3"/>
            <a:stretch>
              <a:fillRect l="0" t="0" r="0" b="0"/>
            </a:stretch>
          </a:blipFill>
        </p:spPr>
      </p:sp>
      <p:sp>
        <p:nvSpPr>
          <p:cNvPr name="TextBox 8" id="8"/>
          <p:cNvSpPr txBox="true"/>
          <p:nvPr/>
        </p:nvSpPr>
        <p:spPr>
          <a:xfrm rot="0">
            <a:off x="3553808" y="185568"/>
            <a:ext cx="1118038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Kết quả của các mô hình có giám sát</a:t>
            </a:r>
          </a:p>
        </p:txBody>
      </p:sp>
      <p:sp>
        <p:nvSpPr>
          <p:cNvPr name="TextBox 9" id="9"/>
          <p:cNvSpPr txBox="true"/>
          <p:nvPr/>
        </p:nvSpPr>
        <p:spPr>
          <a:xfrm rot="0">
            <a:off x="690703" y="1559824"/>
            <a:ext cx="17653884" cy="554926"/>
          </a:xfrm>
          <a:prstGeom prst="rect">
            <a:avLst/>
          </a:prstGeom>
        </p:spPr>
        <p:txBody>
          <a:bodyPr anchor="t" rtlCol="false" tIns="0" lIns="0" bIns="0" rIns="0">
            <a:spAutoFit/>
          </a:bodyPr>
          <a:lstStyle/>
          <a:p>
            <a:pPr algn="l" marL="707615" indent="-353808" lvl="1">
              <a:lnSpc>
                <a:spcPts val="4588"/>
              </a:lnSpc>
              <a:buFont typeface="Arial"/>
              <a:buChar char="•"/>
            </a:pPr>
            <a:r>
              <a:rPr lang="en-US" b="true" sz="3277">
                <a:solidFill>
                  <a:srgbClr val="D6241E"/>
                </a:solidFill>
                <a:latin typeface="Montserrat Bold"/>
                <a:ea typeface="Montserrat Bold"/>
                <a:cs typeface="Montserrat Bold"/>
                <a:sym typeface="Montserrat Bold"/>
              </a:rPr>
              <a:t>Kết quả  trên tập huấn luyện</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30</a:t>
            </a:r>
          </a:p>
        </p:txBody>
      </p:sp>
      <p:sp>
        <p:nvSpPr>
          <p:cNvPr name="TextBox 11" id="11"/>
          <p:cNvSpPr txBox="true"/>
          <p:nvPr/>
        </p:nvSpPr>
        <p:spPr>
          <a:xfrm rot="0">
            <a:off x="1028700" y="5380487"/>
            <a:ext cx="7018530" cy="554926"/>
          </a:xfrm>
          <a:prstGeom prst="rect">
            <a:avLst/>
          </a:prstGeom>
        </p:spPr>
        <p:txBody>
          <a:bodyPr anchor="t" rtlCol="false" tIns="0" lIns="0" bIns="0" rIns="0">
            <a:spAutoFit/>
          </a:bodyPr>
          <a:lstStyle/>
          <a:p>
            <a:pPr algn="l" marL="707615" indent="-353808" lvl="1">
              <a:lnSpc>
                <a:spcPts val="4588"/>
              </a:lnSpc>
              <a:buFont typeface="Arial"/>
              <a:buChar char="•"/>
            </a:pPr>
            <a:r>
              <a:rPr lang="en-US" b="true" sz="3277">
                <a:solidFill>
                  <a:srgbClr val="D6241E"/>
                </a:solidFill>
                <a:latin typeface="Montserrat Bold"/>
                <a:ea typeface="Montserrat Bold"/>
                <a:cs typeface="Montserrat Bold"/>
                <a:sym typeface="Montserrat Bold"/>
              </a:rPr>
              <a:t>Kết quả  trên tập kiểm thử</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3553808" y="185568"/>
            <a:ext cx="1118038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Kết quả của các mô hình có giám sát</a:t>
            </a: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31</a:t>
            </a:r>
          </a:p>
        </p:txBody>
      </p:sp>
      <p:sp>
        <p:nvSpPr>
          <p:cNvPr name="TextBox 8" id="8"/>
          <p:cNvSpPr txBox="true"/>
          <p:nvPr/>
        </p:nvSpPr>
        <p:spPr>
          <a:xfrm rot="0">
            <a:off x="1028700" y="2198165"/>
            <a:ext cx="16230600" cy="5747794"/>
          </a:xfrm>
          <a:prstGeom prst="rect">
            <a:avLst/>
          </a:prstGeom>
        </p:spPr>
        <p:txBody>
          <a:bodyPr anchor="t" rtlCol="false" tIns="0" lIns="0" bIns="0" rIns="0">
            <a:spAutoFit/>
          </a:bodyPr>
          <a:lstStyle/>
          <a:p>
            <a:pPr algn="just">
              <a:lnSpc>
                <a:spcPts val="5759"/>
              </a:lnSpc>
            </a:pPr>
            <a:r>
              <a:rPr lang="en-US" sz="3577">
                <a:solidFill>
                  <a:srgbClr val="D6241E"/>
                </a:solidFill>
                <a:latin typeface="Montserrat"/>
                <a:ea typeface="Montserrat"/>
                <a:cs typeface="Montserrat"/>
                <a:sym typeface="Montserrat"/>
              </a:rPr>
              <a:t>Từ các kết quả trên, có thể thấy rằng nhóm mô hình có giám sát nhìn chung đạt độ chính xác cao do tận dụng được thông tin nhãn trong quá trình huấn luyện. Trong đó, Decision Tree là mô hình nổi bật nhất nhờ đạt sự cân bằng rất tốt giữa Precision và Recall, qua đó nâng cao hiệu quả phát hiện bất thường mà không làm gia tăng đáng kể số lượng cảnh báo sai. Kết quả này cho thấy các phương pháp có giám sát là lựa chọn phù hợp khi bộ dữ liệu huấn luyện có sẵn nhãn đầy đủ và đáng tin cậy.</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1028700" y="2291066"/>
            <a:ext cx="8752691" cy="2811802"/>
          </a:xfrm>
          <a:custGeom>
            <a:avLst/>
            <a:gdLst/>
            <a:ahLst/>
            <a:cxnLst/>
            <a:rect r="r" b="b" t="t" l="l"/>
            <a:pathLst>
              <a:path h="2811802" w="8752691">
                <a:moveTo>
                  <a:pt x="0" y="0"/>
                </a:moveTo>
                <a:lnTo>
                  <a:pt x="8752691" y="0"/>
                </a:lnTo>
                <a:lnTo>
                  <a:pt x="8752691" y="2811802"/>
                </a:lnTo>
                <a:lnTo>
                  <a:pt x="0" y="2811802"/>
                </a:lnTo>
                <a:lnTo>
                  <a:pt x="0" y="0"/>
                </a:lnTo>
                <a:close/>
              </a:path>
            </a:pathLst>
          </a:custGeom>
          <a:blipFill>
            <a:blip r:embed="rId2"/>
            <a:stretch>
              <a:fillRect l="0" t="0" r="0" b="0"/>
            </a:stretch>
          </a:blipFill>
        </p:spPr>
      </p:sp>
      <p:sp>
        <p:nvSpPr>
          <p:cNvPr name="Freeform 7" id="7"/>
          <p:cNvSpPr/>
          <p:nvPr/>
        </p:nvSpPr>
        <p:spPr>
          <a:xfrm flipH="false" flipV="false" rot="0">
            <a:off x="1028700" y="6402735"/>
            <a:ext cx="8752691" cy="2855565"/>
          </a:xfrm>
          <a:custGeom>
            <a:avLst/>
            <a:gdLst/>
            <a:ahLst/>
            <a:cxnLst/>
            <a:rect r="r" b="b" t="t" l="l"/>
            <a:pathLst>
              <a:path h="2855565" w="8752691">
                <a:moveTo>
                  <a:pt x="0" y="0"/>
                </a:moveTo>
                <a:lnTo>
                  <a:pt x="8752691" y="0"/>
                </a:lnTo>
                <a:lnTo>
                  <a:pt x="8752691" y="2855565"/>
                </a:lnTo>
                <a:lnTo>
                  <a:pt x="0" y="2855565"/>
                </a:lnTo>
                <a:lnTo>
                  <a:pt x="0" y="0"/>
                </a:lnTo>
                <a:close/>
              </a:path>
            </a:pathLst>
          </a:custGeom>
          <a:blipFill>
            <a:blip r:embed="rId3"/>
            <a:stretch>
              <a:fillRect l="0" t="0" r="0" b="0"/>
            </a:stretch>
          </a:blipFill>
        </p:spPr>
      </p:sp>
      <p:sp>
        <p:nvSpPr>
          <p:cNvPr name="TextBox 8" id="8"/>
          <p:cNvSpPr txBox="true"/>
          <p:nvPr/>
        </p:nvSpPr>
        <p:spPr>
          <a:xfrm rot="0">
            <a:off x="2828859" y="185568"/>
            <a:ext cx="1263028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Kết quả của các mô hình không giám sát</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32</a:t>
            </a:r>
          </a:p>
        </p:txBody>
      </p:sp>
      <p:sp>
        <p:nvSpPr>
          <p:cNvPr name="TextBox 10" id="10"/>
          <p:cNvSpPr txBox="true"/>
          <p:nvPr/>
        </p:nvSpPr>
        <p:spPr>
          <a:xfrm rot="0">
            <a:off x="1028700" y="1442121"/>
            <a:ext cx="7143882" cy="554926"/>
          </a:xfrm>
          <a:prstGeom prst="rect">
            <a:avLst/>
          </a:prstGeom>
        </p:spPr>
        <p:txBody>
          <a:bodyPr anchor="t" rtlCol="false" tIns="0" lIns="0" bIns="0" rIns="0">
            <a:spAutoFit/>
          </a:bodyPr>
          <a:lstStyle/>
          <a:p>
            <a:pPr algn="l" marL="707615" indent="-353808" lvl="1">
              <a:lnSpc>
                <a:spcPts val="4588"/>
              </a:lnSpc>
              <a:buFont typeface="Arial"/>
              <a:buChar char="•"/>
            </a:pPr>
            <a:r>
              <a:rPr lang="en-US" b="true" sz="3277">
                <a:solidFill>
                  <a:srgbClr val="D6241E"/>
                </a:solidFill>
                <a:latin typeface="Montserrat Bold"/>
                <a:ea typeface="Montserrat Bold"/>
                <a:cs typeface="Montserrat Bold"/>
                <a:sym typeface="Montserrat Bold"/>
              </a:rPr>
              <a:t>Kết quả  trên tập huấn luyện</a:t>
            </a:r>
          </a:p>
        </p:txBody>
      </p:sp>
      <p:sp>
        <p:nvSpPr>
          <p:cNvPr name="TextBox 11" id="11"/>
          <p:cNvSpPr txBox="true"/>
          <p:nvPr/>
        </p:nvSpPr>
        <p:spPr>
          <a:xfrm rot="0">
            <a:off x="1028700" y="5447391"/>
            <a:ext cx="7143882" cy="554926"/>
          </a:xfrm>
          <a:prstGeom prst="rect">
            <a:avLst/>
          </a:prstGeom>
        </p:spPr>
        <p:txBody>
          <a:bodyPr anchor="t" rtlCol="false" tIns="0" lIns="0" bIns="0" rIns="0">
            <a:spAutoFit/>
          </a:bodyPr>
          <a:lstStyle/>
          <a:p>
            <a:pPr algn="l" marL="707615" indent="-353808" lvl="1">
              <a:lnSpc>
                <a:spcPts val="4588"/>
              </a:lnSpc>
              <a:buFont typeface="Arial"/>
              <a:buChar char="•"/>
            </a:pPr>
            <a:r>
              <a:rPr lang="en-US" b="true" sz="3277">
                <a:solidFill>
                  <a:srgbClr val="D6241E"/>
                </a:solidFill>
                <a:latin typeface="Montserrat Bold"/>
                <a:ea typeface="Montserrat Bold"/>
                <a:cs typeface="Montserrat Bold"/>
                <a:sym typeface="Montserrat Bold"/>
              </a:rPr>
              <a:t>Kết quả  trên tập kiểm thử</a:t>
            </a: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33</a:t>
            </a:r>
          </a:p>
        </p:txBody>
      </p:sp>
      <p:sp>
        <p:nvSpPr>
          <p:cNvPr name="TextBox 7" id="7"/>
          <p:cNvSpPr txBox="true"/>
          <p:nvPr/>
        </p:nvSpPr>
        <p:spPr>
          <a:xfrm rot="0">
            <a:off x="1028700" y="3089258"/>
            <a:ext cx="16230600" cy="4245546"/>
          </a:xfrm>
          <a:prstGeom prst="rect">
            <a:avLst/>
          </a:prstGeom>
        </p:spPr>
        <p:txBody>
          <a:bodyPr anchor="t" rtlCol="false" tIns="0" lIns="0" bIns="0" rIns="0">
            <a:spAutoFit/>
          </a:bodyPr>
          <a:lstStyle/>
          <a:p>
            <a:pPr algn="just">
              <a:lnSpc>
                <a:spcPts val="4868"/>
              </a:lnSpc>
            </a:pPr>
            <a:r>
              <a:rPr lang="en-US" sz="3477">
                <a:solidFill>
                  <a:srgbClr val="D6241E"/>
                </a:solidFill>
                <a:latin typeface="Montserrat"/>
                <a:ea typeface="Montserrat"/>
                <a:cs typeface="Montserrat"/>
                <a:sym typeface="Montserrat"/>
              </a:rPr>
              <a:t>So với nhóm mô hình có giám sát, hiệu năng của các phương pháp không giám sát thường thấp hơn do không tận dụng trực tiếp được thông tin nhãn trong giai đoạn huấn luyện. Tuy nhiên, ưu điểm của nhóm này là có khả năng áp dụng linh hoạt trong các hệ thống thực tế, nơi dữ liệu bất thường hiếm và khó gán nhãn. Vì vậy, mặc dù kết quả có thể chưa đạt mức cao như các mô hình có giám sát, nhóm phương pháp này vẫn có giá trị lớn trong các kịch bản triển khai thực tế.</a:t>
            </a:r>
          </a:p>
        </p:txBody>
      </p:sp>
      <p:sp>
        <p:nvSpPr>
          <p:cNvPr name="TextBox 8" id="8"/>
          <p:cNvSpPr txBox="true"/>
          <p:nvPr/>
        </p:nvSpPr>
        <p:spPr>
          <a:xfrm rot="0">
            <a:off x="2828859" y="185568"/>
            <a:ext cx="1263028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Kết quả của các mô hình không giám sát</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199813"/>
            <a:chOff x="0" y="0"/>
            <a:chExt cx="4816593" cy="316000"/>
          </a:xfrm>
        </p:grpSpPr>
        <p:sp>
          <p:nvSpPr>
            <p:cNvPr name="Freeform 3" id="3"/>
            <p:cNvSpPr/>
            <p:nvPr/>
          </p:nvSpPr>
          <p:spPr>
            <a:xfrm flipH="false" flipV="false" rot="0">
              <a:off x="0" y="0"/>
              <a:ext cx="4816592" cy="316000"/>
            </a:xfrm>
            <a:custGeom>
              <a:avLst/>
              <a:gdLst/>
              <a:ahLst/>
              <a:cxnLst/>
              <a:rect r="r" b="b" t="t" l="l"/>
              <a:pathLst>
                <a:path h="316000" w="4816592">
                  <a:moveTo>
                    <a:pt x="0" y="0"/>
                  </a:moveTo>
                  <a:lnTo>
                    <a:pt x="4816592" y="0"/>
                  </a:lnTo>
                  <a:lnTo>
                    <a:pt x="4816592" y="316000"/>
                  </a:lnTo>
                  <a:lnTo>
                    <a:pt x="0" y="316000"/>
                  </a:lnTo>
                  <a:close/>
                </a:path>
              </a:pathLst>
            </a:custGeom>
            <a:solidFill>
              <a:srgbClr val="DD4904"/>
            </a:solidFill>
          </p:spPr>
        </p:sp>
        <p:sp>
          <p:nvSpPr>
            <p:cNvPr name="TextBox 4" id="4"/>
            <p:cNvSpPr txBox="true"/>
            <p:nvPr/>
          </p:nvSpPr>
          <p:spPr>
            <a:xfrm>
              <a:off x="0" y="-38100"/>
              <a:ext cx="4816593" cy="354100"/>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3635353" y="2803358"/>
            <a:ext cx="12121957" cy="6454942"/>
          </a:xfrm>
          <a:custGeom>
            <a:avLst/>
            <a:gdLst/>
            <a:ahLst/>
            <a:cxnLst/>
            <a:rect r="r" b="b" t="t" l="l"/>
            <a:pathLst>
              <a:path h="6454942" w="12121957">
                <a:moveTo>
                  <a:pt x="0" y="0"/>
                </a:moveTo>
                <a:lnTo>
                  <a:pt x="12121956" y="0"/>
                </a:lnTo>
                <a:lnTo>
                  <a:pt x="12121956" y="6454942"/>
                </a:lnTo>
                <a:lnTo>
                  <a:pt x="0" y="6454942"/>
                </a:lnTo>
                <a:lnTo>
                  <a:pt x="0" y="0"/>
                </a:lnTo>
                <a:close/>
              </a:path>
            </a:pathLst>
          </a:custGeom>
          <a:blipFill>
            <a:blip r:embed="rId2"/>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34</a:t>
            </a:r>
          </a:p>
        </p:txBody>
      </p:sp>
      <p:sp>
        <p:nvSpPr>
          <p:cNvPr name="TextBox 8" id="8"/>
          <p:cNvSpPr txBox="true"/>
          <p:nvPr/>
        </p:nvSpPr>
        <p:spPr>
          <a:xfrm rot="0">
            <a:off x="4760323" y="1934107"/>
            <a:ext cx="9872016" cy="554926"/>
          </a:xfrm>
          <a:prstGeom prst="rect">
            <a:avLst/>
          </a:prstGeom>
        </p:spPr>
        <p:txBody>
          <a:bodyPr anchor="t" rtlCol="false" tIns="0" lIns="0" bIns="0" rIns="0">
            <a:spAutoFit/>
          </a:bodyPr>
          <a:lstStyle/>
          <a:p>
            <a:pPr algn="l">
              <a:lnSpc>
                <a:spcPts val="4588"/>
              </a:lnSpc>
            </a:pPr>
            <a:r>
              <a:rPr lang="en-US" sz="3277" b="true">
                <a:solidFill>
                  <a:srgbClr val="D6241E"/>
                </a:solidFill>
                <a:latin typeface="Montserrat Bold"/>
                <a:ea typeface="Montserrat Bold"/>
                <a:cs typeface="Montserrat Bold"/>
                <a:sym typeface="Montserrat Bold"/>
              </a:rPr>
              <a:t>Bảng so sánh thời gian xử lý của các mô hình</a:t>
            </a:r>
          </a:p>
        </p:txBody>
      </p:sp>
      <p:sp>
        <p:nvSpPr>
          <p:cNvPr name="TextBox 9" id="9"/>
          <p:cNvSpPr txBox="true"/>
          <p:nvPr/>
        </p:nvSpPr>
        <p:spPr>
          <a:xfrm rot="0">
            <a:off x="2828859" y="185568"/>
            <a:ext cx="12630283" cy="752477"/>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So sánh thời gian xử lý của các mô hình</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860531"/>
            <a:chOff x="0" y="0"/>
            <a:chExt cx="4816593" cy="490016"/>
          </a:xfrm>
        </p:grpSpPr>
        <p:sp>
          <p:nvSpPr>
            <p:cNvPr name="Freeform 3" id="3"/>
            <p:cNvSpPr/>
            <p:nvPr/>
          </p:nvSpPr>
          <p:spPr>
            <a:xfrm flipH="false" flipV="false" rot="0">
              <a:off x="0" y="0"/>
              <a:ext cx="4816592" cy="490016"/>
            </a:xfrm>
            <a:custGeom>
              <a:avLst/>
              <a:gdLst/>
              <a:ahLst/>
              <a:cxnLst/>
              <a:rect r="r" b="b" t="t" l="l"/>
              <a:pathLst>
                <a:path h="490016" w="4816592">
                  <a:moveTo>
                    <a:pt x="0" y="0"/>
                  </a:moveTo>
                  <a:lnTo>
                    <a:pt x="4816592" y="0"/>
                  </a:lnTo>
                  <a:lnTo>
                    <a:pt x="4816592" y="490016"/>
                  </a:lnTo>
                  <a:lnTo>
                    <a:pt x="0" y="490016"/>
                  </a:lnTo>
                  <a:close/>
                </a:path>
              </a:pathLst>
            </a:custGeom>
            <a:solidFill>
              <a:srgbClr val="DD4904"/>
            </a:solidFill>
          </p:spPr>
        </p:sp>
        <p:sp>
          <p:nvSpPr>
            <p:cNvPr name="TextBox 4" id="4"/>
            <p:cNvSpPr txBox="true"/>
            <p:nvPr/>
          </p:nvSpPr>
          <p:spPr>
            <a:xfrm>
              <a:off x="0" y="-38100"/>
              <a:ext cx="4816593" cy="528116"/>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5179195" y="4103854"/>
            <a:ext cx="8053821" cy="5154446"/>
          </a:xfrm>
          <a:custGeom>
            <a:avLst/>
            <a:gdLst/>
            <a:ahLst/>
            <a:cxnLst/>
            <a:rect r="r" b="b" t="t" l="l"/>
            <a:pathLst>
              <a:path h="5154446" w="8053821">
                <a:moveTo>
                  <a:pt x="0" y="0"/>
                </a:moveTo>
                <a:lnTo>
                  <a:pt x="8053821" y="0"/>
                </a:lnTo>
                <a:lnTo>
                  <a:pt x="8053821" y="5154446"/>
                </a:lnTo>
                <a:lnTo>
                  <a:pt x="0" y="5154446"/>
                </a:lnTo>
                <a:lnTo>
                  <a:pt x="0" y="0"/>
                </a:lnTo>
                <a:close/>
              </a:path>
            </a:pathLst>
          </a:custGeom>
          <a:blipFill>
            <a:blip r:embed="rId2"/>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35</a:t>
            </a:r>
          </a:p>
        </p:txBody>
      </p:sp>
      <p:sp>
        <p:nvSpPr>
          <p:cNvPr name="TextBox 8" id="8"/>
          <p:cNvSpPr txBox="true"/>
          <p:nvPr/>
        </p:nvSpPr>
        <p:spPr>
          <a:xfrm rot="0">
            <a:off x="1028700" y="2254798"/>
            <a:ext cx="16230600" cy="1716976"/>
          </a:xfrm>
          <a:prstGeom prst="rect">
            <a:avLst/>
          </a:prstGeom>
        </p:spPr>
        <p:txBody>
          <a:bodyPr anchor="t" rtlCol="false" tIns="0" lIns="0" bIns="0" rIns="0">
            <a:spAutoFit/>
          </a:bodyPr>
          <a:lstStyle/>
          <a:p>
            <a:pPr algn="just">
              <a:lnSpc>
                <a:spcPts val="4588"/>
              </a:lnSpc>
            </a:pPr>
            <a:r>
              <a:rPr lang="en-US" sz="3277">
                <a:solidFill>
                  <a:srgbClr val="D6241E"/>
                </a:solidFill>
                <a:latin typeface="Montserrat"/>
                <a:ea typeface="Montserrat"/>
                <a:cs typeface="Montserrat"/>
                <a:sym typeface="Montserrat"/>
              </a:rPr>
              <a:t>Để đánh giá khả năng mở rộng của các mô hình, báo cáo khảo sát sự thay đổi của hiệu năng và thời gian xử lý khi quy mô dữ liệu đầu vào tăng dần theo các mức 1%, 5%, 10%, 25%, 50% và 100% của toàn bộ tập dữ liệu.</a:t>
            </a:r>
          </a:p>
        </p:txBody>
      </p:sp>
      <p:sp>
        <p:nvSpPr>
          <p:cNvPr name="TextBox 9" id="9"/>
          <p:cNvSpPr txBox="true"/>
          <p:nvPr/>
        </p:nvSpPr>
        <p:spPr>
          <a:xfrm rot="0">
            <a:off x="1028700" y="135791"/>
            <a:ext cx="16066963" cy="1543052"/>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Đánh giá khả năng mở rộng của các mô hình theo quy mô dữ liệu</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860531"/>
            <a:chOff x="0" y="0"/>
            <a:chExt cx="4816593" cy="490016"/>
          </a:xfrm>
        </p:grpSpPr>
        <p:sp>
          <p:nvSpPr>
            <p:cNvPr name="Freeform 3" id="3"/>
            <p:cNvSpPr/>
            <p:nvPr/>
          </p:nvSpPr>
          <p:spPr>
            <a:xfrm flipH="false" flipV="false" rot="0">
              <a:off x="0" y="0"/>
              <a:ext cx="4816592" cy="490016"/>
            </a:xfrm>
            <a:custGeom>
              <a:avLst/>
              <a:gdLst/>
              <a:ahLst/>
              <a:cxnLst/>
              <a:rect r="r" b="b" t="t" l="l"/>
              <a:pathLst>
                <a:path h="490016" w="4816592">
                  <a:moveTo>
                    <a:pt x="0" y="0"/>
                  </a:moveTo>
                  <a:lnTo>
                    <a:pt x="4816592" y="0"/>
                  </a:lnTo>
                  <a:lnTo>
                    <a:pt x="4816592" y="490016"/>
                  </a:lnTo>
                  <a:lnTo>
                    <a:pt x="0" y="490016"/>
                  </a:lnTo>
                  <a:close/>
                </a:path>
              </a:pathLst>
            </a:custGeom>
            <a:solidFill>
              <a:srgbClr val="DD4904"/>
            </a:solidFill>
          </p:spPr>
        </p:sp>
        <p:sp>
          <p:nvSpPr>
            <p:cNvPr name="TextBox 4" id="4"/>
            <p:cNvSpPr txBox="true"/>
            <p:nvPr/>
          </p:nvSpPr>
          <p:spPr>
            <a:xfrm>
              <a:off x="0" y="-38100"/>
              <a:ext cx="4816593" cy="528116"/>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689339" y="9594948"/>
            <a:ext cx="15785171" cy="0"/>
          </a:xfrm>
          <a:prstGeom prst="line">
            <a:avLst/>
          </a:prstGeom>
          <a:ln cap="flat" w="38100">
            <a:solidFill>
              <a:srgbClr val="DD4904"/>
            </a:solidFill>
            <a:prstDash val="solid"/>
            <a:headEnd type="none" len="sm" w="sm"/>
            <a:tailEnd type="none" len="sm" w="sm"/>
          </a:ln>
        </p:spPr>
      </p:sp>
      <p:sp>
        <p:nvSpPr>
          <p:cNvPr name="Freeform 6" id="6"/>
          <p:cNvSpPr/>
          <p:nvPr/>
        </p:nvSpPr>
        <p:spPr>
          <a:xfrm flipH="false" flipV="false" rot="0">
            <a:off x="4615759" y="3484793"/>
            <a:ext cx="9056482" cy="5773507"/>
          </a:xfrm>
          <a:custGeom>
            <a:avLst/>
            <a:gdLst/>
            <a:ahLst/>
            <a:cxnLst/>
            <a:rect r="r" b="b" t="t" l="l"/>
            <a:pathLst>
              <a:path h="5773507" w="9056482">
                <a:moveTo>
                  <a:pt x="0" y="0"/>
                </a:moveTo>
                <a:lnTo>
                  <a:pt x="9056482" y="0"/>
                </a:lnTo>
                <a:lnTo>
                  <a:pt x="9056482" y="5773507"/>
                </a:lnTo>
                <a:lnTo>
                  <a:pt x="0" y="5773507"/>
                </a:lnTo>
                <a:lnTo>
                  <a:pt x="0" y="0"/>
                </a:lnTo>
                <a:close/>
              </a:path>
            </a:pathLst>
          </a:custGeom>
          <a:blipFill>
            <a:blip r:embed="rId2"/>
            <a:stretch>
              <a:fillRect l="0" t="0" r="0" b="0"/>
            </a:stretch>
          </a:blipFill>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36</a:t>
            </a:r>
          </a:p>
        </p:txBody>
      </p:sp>
      <p:sp>
        <p:nvSpPr>
          <p:cNvPr name="TextBox 8" id="8"/>
          <p:cNvSpPr txBox="true"/>
          <p:nvPr/>
        </p:nvSpPr>
        <p:spPr>
          <a:xfrm rot="0">
            <a:off x="1170682" y="2077367"/>
            <a:ext cx="16230600" cy="1133439"/>
          </a:xfrm>
          <a:prstGeom prst="rect">
            <a:avLst/>
          </a:prstGeom>
        </p:spPr>
        <p:txBody>
          <a:bodyPr anchor="t" rtlCol="false" tIns="0" lIns="0" bIns="0" rIns="0">
            <a:spAutoFit/>
          </a:bodyPr>
          <a:lstStyle/>
          <a:p>
            <a:pPr algn="l">
              <a:lnSpc>
                <a:spcPts val="4588"/>
              </a:lnSpc>
            </a:pPr>
            <a:r>
              <a:rPr lang="en-US" sz="3277">
                <a:solidFill>
                  <a:srgbClr val="D6241E"/>
                </a:solidFill>
                <a:latin typeface="Montserrat"/>
                <a:ea typeface="Montserrat"/>
                <a:cs typeface="Montserrat"/>
                <a:sym typeface="Montserrat"/>
              </a:rPr>
              <a:t>Bên cạnh hiệu năng phát hiện, hình dưới trình bày tổng thời gian xử lý của các mô hình theo từng mốc dữ liệu</a:t>
            </a:r>
          </a:p>
        </p:txBody>
      </p:sp>
      <p:sp>
        <p:nvSpPr>
          <p:cNvPr name="TextBox 9" id="9"/>
          <p:cNvSpPr txBox="true"/>
          <p:nvPr/>
        </p:nvSpPr>
        <p:spPr>
          <a:xfrm rot="0">
            <a:off x="1028700" y="135791"/>
            <a:ext cx="16066963" cy="1543052"/>
          </a:xfrm>
          <a:prstGeom prst="rect">
            <a:avLst/>
          </a:prstGeom>
        </p:spPr>
        <p:txBody>
          <a:bodyPr anchor="t" rtlCol="false" tIns="0" lIns="0" bIns="0" rIns="0">
            <a:spAutoFit/>
          </a:bodyPr>
          <a:lstStyle/>
          <a:p>
            <a:pPr algn="l">
              <a:lnSpc>
                <a:spcPts val="6299"/>
              </a:lnSpc>
              <a:spcBef>
                <a:spcPct val="0"/>
              </a:spcBef>
            </a:pPr>
            <a:r>
              <a:rPr lang="en-US" b="true" sz="4499">
                <a:solidFill>
                  <a:srgbClr val="FFFFFF"/>
                </a:solidFill>
                <a:latin typeface="Montserrat Bold"/>
                <a:ea typeface="Montserrat Bold"/>
                <a:cs typeface="Montserrat Bold"/>
                <a:sym typeface="Montserrat Bold"/>
              </a:rPr>
              <a:t>Đánh giá khả năng mở rộng của các mô hình theo quy mô dữ liệu</a:t>
            </a: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DD4904"/>
            </a:solidFill>
          </p:spPr>
        </p:sp>
        <p:sp>
          <p:nvSpPr>
            <p:cNvPr name="TextBox 4" id="4"/>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758093" y="9711506"/>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37</a:t>
            </a:r>
          </a:p>
        </p:txBody>
      </p:sp>
      <p:sp>
        <p:nvSpPr>
          <p:cNvPr name="TextBox 7" id="7"/>
          <p:cNvSpPr txBox="true"/>
          <p:nvPr/>
        </p:nvSpPr>
        <p:spPr>
          <a:xfrm rot="0">
            <a:off x="886718" y="2261552"/>
            <a:ext cx="16372582" cy="5611495"/>
          </a:xfrm>
          <a:prstGeom prst="rect">
            <a:avLst/>
          </a:prstGeom>
        </p:spPr>
        <p:txBody>
          <a:bodyPr anchor="t" rtlCol="false" tIns="0" lIns="0" bIns="0" rIns="0">
            <a:spAutoFit/>
          </a:bodyPr>
          <a:lstStyle/>
          <a:p>
            <a:pPr algn="just" marL="863599" indent="-431800" lvl="1">
              <a:lnSpc>
                <a:spcPts val="6439"/>
              </a:lnSpc>
              <a:buFont typeface="Arial"/>
              <a:buChar char="•"/>
            </a:pPr>
            <a:r>
              <a:rPr lang="en-US" sz="3999">
                <a:solidFill>
                  <a:srgbClr val="D6241E"/>
                </a:solidFill>
                <a:latin typeface="Montserrat"/>
                <a:ea typeface="Montserrat"/>
                <a:cs typeface="Montserrat"/>
                <a:sym typeface="Montserrat"/>
              </a:rPr>
              <a:t>Từ các kết quả thực nghiệm có thể thấy rằng các mô hình có giám sát cho hiệu quả phát hiện bất thường tốt hơn so với nhóm mô hình không giám sát. </a:t>
            </a:r>
          </a:p>
          <a:p>
            <a:pPr algn="just" marL="863599" indent="-431800" lvl="1">
              <a:lnSpc>
                <a:spcPts val="6439"/>
              </a:lnSpc>
              <a:buFont typeface="Arial"/>
              <a:buChar char="•"/>
            </a:pPr>
            <a:r>
              <a:rPr lang="en-US" sz="3999">
                <a:solidFill>
                  <a:srgbClr val="D6241E"/>
                </a:solidFill>
                <a:latin typeface="Montserrat"/>
                <a:ea typeface="Montserrat"/>
                <a:cs typeface="Montserrat"/>
                <a:sym typeface="Montserrat"/>
              </a:rPr>
              <a:t>Trong nhóm có giám sát, Decision Tree là mô hình đạt kết quả cao nhất trên tập kiểm thử. Điều này cho thấy với dữ liệu log đã có nhãn, các mô hình phân loại có khả năng học ranh giới quyết định tốt sẽ cho hiệu năng cao hơn.</a:t>
            </a:r>
          </a:p>
        </p:txBody>
      </p:sp>
      <p:sp>
        <p:nvSpPr>
          <p:cNvPr name="TextBox 8" id="8"/>
          <p:cNvSpPr txBox="true"/>
          <p:nvPr/>
        </p:nvSpPr>
        <p:spPr>
          <a:xfrm rot="0">
            <a:off x="5307120" y="39688"/>
            <a:ext cx="7673761" cy="854075"/>
          </a:xfrm>
          <a:prstGeom prst="rect">
            <a:avLst/>
          </a:prstGeom>
        </p:spPr>
        <p:txBody>
          <a:bodyPr anchor="t" rtlCol="false" tIns="0" lIns="0" bIns="0" rIns="0">
            <a:spAutoFit/>
          </a:bodyPr>
          <a:lstStyle/>
          <a:p>
            <a:pPr algn="l">
              <a:lnSpc>
                <a:spcPts val="7000"/>
              </a:lnSpc>
              <a:spcBef>
                <a:spcPct val="0"/>
              </a:spcBef>
            </a:pPr>
            <a:r>
              <a:rPr lang="en-US" b="true" sz="5000">
                <a:solidFill>
                  <a:srgbClr val="FFFFFF"/>
                </a:solidFill>
                <a:latin typeface="Montserrat Bold"/>
                <a:ea typeface="Montserrat Bold"/>
                <a:cs typeface="Montserrat Bold"/>
                <a:sym typeface="Montserrat Bold"/>
              </a:rPr>
              <a:t>Đánh giá và nhận xét</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
            <a:chOff x="0" y="0"/>
            <a:chExt cx="4816593" cy="270933"/>
          </a:xfrm>
        </p:grpSpPr>
        <p:sp>
          <p:nvSpPr>
            <p:cNvPr name="Freeform 3" id="3"/>
            <p:cNvSpPr/>
            <p:nvPr/>
          </p:nvSpPr>
          <p:spPr>
            <a:xfrm flipH="false" flipV="false" rot="0">
              <a:off x="0" y="0"/>
              <a:ext cx="4816592" cy="270933"/>
            </a:xfrm>
            <a:custGeom>
              <a:avLst/>
              <a:gdLst/>
              <a:ahLst/>
              <a:cxnLst/>
              <a:rect r="r" b="b" t="t" l="l"/>
              <a:pathLst>
                <a:path h="270933" w="4816592">
                  <a:moveTo>
                    <a:pt x="0" y="0"/>
                  </a:moveTo>
                  <a:lnTo>
                    <a:pt x="4816592" y="0"/>
                  </a:lnTo>
                  <a:lnTo>
                    <a:pt x="4816592" y="270933"/>
                  </a:lnTo>
                  <a:lnTo>
                    <a:pt x="0" y="270933"/>
                  </a:lnTo>
                  <a:close/>
                </a:path>
              </a:pathLst>
            </a:custGeom>
            <a:solidFill>
              <a:srgbClr val="DD4904"/>
            </a:solidFill>
          </p:spPr>
        </p:sp>
        <p:sp>
          <p:nvSpPr>
            <p:cNvPr name="TextBox 4" id="4"/>
            <p:cNvSpPr txBox="true"/>
            <p:nvPr/>
          </p:nvSpPr>
          <p:spPr>
            <a:xfrm>
              <a:off x="0" y="-38100"/>
              <a:ext cx="4816593" cy="309033"/>
            </a:xfrm>
            <a:prstGeom prst="rect">
              <a:avLst/>
            </a:prstGeom>
          </p:spPr>
          <p:txBody>
            <a:bodyPr anchor="ctr" rtlCol="false" tIns="50800" lIns="50800" bIns="50800" rIns="50800"/>
            <a:lstStyle/>
            <a:p>
              <a:pPr algn="ctr">
                <a:lnSpc>
                  <a:spcPts val="2659"/>
                </a:lnSpc>
                <a:spcBef>
                  <a:spcPct val="0"/>
                </a:spcBef>
              </a:pPr>
            </a:p>
          </p:txBody>
        </p:sp>
      </p:grpSp>
      <p:sp>
        <p:nvSpPr>
          <p:cNvPr name="AutoShape 5" id="5"/>
          <p:cNvSpPr/>
          <p:nvPr/>
        </p:nvSpPr>
        <p:spPr>
          <a:xfrm>
            <a:off x="1758093" y="9711506"/>
            <a:ext cx="15785171" cy="0"/>
          </a:xfrm>
          <a:prstGeom prst="line">
            <a:avLst/>
          </a:prstGeom>
          <a:ln cap="flat" w="38100">
            <a:solidFill>
              <a:srgbClr val="DD4904"/>
            </a:solidFill>
            <a:prstDash val="solid"/>
            <a:headEnd type="none" len="sm" w="sm"/>
            <a:tailEnd type="none" len="sm" w="sm"/>
          </a:ln>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Noto Serif Display"/>
                <a:ea typeface="Noto Serif Display"/>
                <a:cs typeface="Noto Serif Display"/>
                <a:sym typeface="Noto Serif Display"/>
              </a:rPr>
              <a:t>38</a:t>
            </a:r>
          </a:p>
        </p:txBody>
      </p:sp>
      <p:sp>
        <p:nvSpPr>
          <p:cNvPr name="TextBox 7" id="7"/>
          <p:cNvSpPr txBox="true"/>
          <p:nvPr/>
        </p:nvSpPr>
        <p:spPr>
          <a:xfrm rot="0">
            <a:off x="1170682" y="1603375"/>
            <a:ext cx="16230600" cy="7013575"/>
          </a:xfrm>
          <a:prstGeom prst="rect">
            <a:avLst/>
          </a:prstGeom>
        </p:spPr>
        <p:txBody>
          <a:bodyPr anchor="t" rtlCol="false" tIns="0" lIns="0" bIns="0" rIns="0">
            <a:spAutoFit/>
          </a:bodyPr>
          <a:lstStyle/>
          <a:p>
            <a:pPr algn="just">
              <a:lnSpc>
                <a:spcPts val="5599"/>
              </a:lnSpc>
            </a:pPr>
          </a:p>
          <a:p>
            <a:pPr algn="just" marL="863599" indent="-431800" lvl="1">
              <a:lnSpc>
                <a:spcPts val="5599"/>
              </a:lnSpc>
              <a:buFont typeface="Arial"/>
              <a:buChar char="•"/>
            </a:pPr>
            <a:r>
              <a:rPr lang="en-US" sz="3999">
                <a:solidFill>
                  <a:srgbClr val="D6241E"/>
                </a:solidFill>
                <a:latin typeface="Montserrat"/>
                <a:ea typeface="Montserrat"/>
                <a:cs typeface="Montserrat"/>
                <a:sym typeface="Montserrat"/>
              </a:rPr>
              <a:t>Đối với nhóm mô hình không giám sát, Invariants Miner là phương pháp đạt kết quả nổi bật nhất. Tuy vậy, nhóm mô hình này vẫn có ý nghĩa thực tiễn trong các trường hợp dữ liệu thiếu nhãn hoặc khó gán nhãn.</a:t>
            </a:r>
          </a:p>
          <a:p>
            <a:pPr algn="just" marL="863599" indent="-431800" lvl="1">
              <a:lnSpc>
                <a:spcPts val="5599"/>
              </a:lnSpc>
              <a:buFont typeface="Arial"/>
              <a:buChar char="•"/>
            </a:pPr>
            <a:r>
              <a:rPr lang="en-US" sz="3999">
                <a:solidFill>
                  <a:srgbClr val="D6241E"/>
                </a:solidFill>
                <a:latin typeface="Montserrat"/>
                <a:ea typeface="Montserrat"/>
                <a:cs typeface="Montserrat"/>
                <a:sym typeface="Montserrat"/>
              </a:rPr>
              <a:t>Về thời gian xử lý, Decision Tree là phương pháp đạt sự cân bằng tốt nhất giữa độ chính xác và chi phí tính toán.</a:t>
            </a:r>
          </a:p>
          <a:p>
            <a:pPr algn="just" marL="863599" indent="-431800" lvl="1">
              <a:lnSpc>
                <a:spcPts val="5599"/>
              </a:lnSpc>
              <a:buFont typeface="Arial"/>
              <a:buChar char="•"/>
            </a:pPr>
            <a:r>
              <a:rPr lang="en-US" sz="3999">
                <a:solidFill>
                  <a:srgbClr val="D6241E"/>
                </a:solidFill>
                <a:latin typeface="Montserrat"/>
                <a:ea typeface="Montserrat"/>
                <a:cs typeface="Montserrat"/>
                <a:sym typeface="Montserrat"/>
              </a:rPr>
              <a:t>Khi đánh giá theo quy mô dữ liệu, Decision Tree tiếp tục cho thấy ưu thế rõ rệt khi vừa duy trì F1-score cao, vừa có thời gian xử lý tăng theo xu hướng ổn định.</a:t>
            </a:r>
          </a:p>
        </p:txBody>
      </p:sp>
      <p:sp>
        <p:nvSpPr>
          <p:cNvPr name="TextBox 8" id="8"/>
          <p:cNvSpPr txBox="true"/>
          <p:nvPr/>
        </p:nvSpPr>
        <p:spPr>
          <a:xfrm rot="0">
            <a:off x="5097465" y="39688"/>
            <a:ext cx="8093070" cy="854075"/>
          </a:xfrm>
          <a:prstGeom prst="rect">
            <a:avLst/>
          </a:prstGeom>
        </p:spPr>
        <p:txBody>
          <a:bodyPr anchor="t" rtlCol="false" tIns="0" lIns="0" bIns="0" rIns="0">
            <a:spAutoFit/>
          </a:bodyPr>
          <a:lstStyle/>
          <a:p>
            <a:pPr algn="ctr">
              <a:lnSpc>
                <a:spcPts val="7000"/>
              </a:lnSpc>
              <a:spcBef>
                <a:spcPct val="0"/>
              </a:spcBef>
            </a:pPr>
            <a:r>
              <a:rPr lang="en-US" b="true" sz="5000">
                <a:solidFill>
                  <a:srgbClr val="FFFFFF"/>
                </a:solidFill>
                <a:latin typeface="Montserrat Bold"/>
                <a:ea typeface="Montserrat Bold"/>
                <a:cs typeface="Montserrat Bold"/>
                <a:sym typeface="Montserrat Bold"/>
              </a:rPr>
              <a:t>Đánh giá và nhận xét</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8860" y="330319"/>
            <a:ext cx="5439166" cy="1115029"/>
          </a:xfrm>
          <a:custGeom>
            <a:avLst/>
            <a:gdLst/>
            <a:ahLst/>
            <a:cxnLst/>
            <a:rect r="r" b="b" t="t" l="l"/>
            <a:pathLst>
              <a:path h="1115029" w="5439166">
                <a:moveTo>
                  <a:pt x="0" y="0"/>
                </a:moveTo>
                <a:lnTo>
                  <a:pt x="5439166" y="0"/>
                </a:lnTo>
                <a:lnTo>
                  <a:pt x="5439166" y="1115030"/>
                </a:lnTo>
                <a:lnTo>
                  <a:pt x="0" y="1115030"/>
                </a:lnTo>
                <a:lnTo>
                  <a:pt x="0" y="0"/>
                </a:lnTo>
                <a:close/>
              </a:path>
            </a:pathLst>
          </a:custGeom>
          <a:blipFill>
            <a:blip r:embed="rId2"/>
            <a:stretch>
              <a:fillRect l="0" t="0" r="0" b="0"/>
            </a:stretch>
          </a:blipFill>
        </p:spPr>
      </p:sp>
      <p:grpSp>
        <p:nvGrpSpPr>
          <p:cNvPr name="Group 3" id="3"/>
          <p:cNvGrpSpPr/>
          <p:nvPr/>
        </p:nvGrpSpPr>
        <p:grpSpPr>
          <a:xfrm rot="0">
            <a:off x="0" y="2655427"/>
            <a:ext cx="18288000" cy="4723221"/>
            <a:chOff x="0" y="0"/>
            <a:chExt cx="4816593" cy="1243976"/>
          </a:xfrm>
        </p:grpSpPr>
        <p:sp>
          <p:nvSpPr>
            <p:cNvPr name="Freeform 4" id="4"/>
            <p:cNvSpPr/>
            <p:nvPr/>
          </p:nvSpPr>
          <p:spPr>
            <a:xfrm flipH="false" flipV="false" rot="0">
              <a:off x="0" y="0"/>
              <a:ext cx="4816592" cy="1243976"/>
            </a:xfrm>
            <a:custGeom>
              <a:avLst/>
              <a:gdLst/>
              <a:ahLst/>
              <a:cxnLst/>
              <a:rect r="r" b="b" t="t" l="l"/>
              <a:pathLst>
                <a:path h="1243976" w="4816592">
                  <a:moveTo>
                    <a:pt x="0" y="0"/>
                  </a:moveTo>
                  <a:lnTo>
                    <a:pt x="4816592" y="0"/>
                  </a:lnTo>
                  <a:lnTo>
                    <a:pt x="4816592" y="1243976"/>
                  </a:lnTo>
                  <a:lnTo>
                    <a:pt x="0" y="1243976"/>
                  </a:lnTo>
                  <a:close/>
                </a:path>
              </a:pathLst>
            </a:custGeom>
            <a:solidFill>
              <a:srgbClr val="DD4904"/>
            </a:solidFill>
          </p:spPr>
        </p:sp>
        <p:sp>
          <p:nvSpPr>
            <p:cNvPr name="TextBox 5" id="5"/>
            <p:cNvSpPr txBox="true"/>
            <p:nvPr/>
          </p:nvSpPr>
          <p:spPr>
            <a:xfrm>
              <a:off x="0" y="-38100"/>
              <a:ext cx="4816593" cy="1282076"/>
            </a:xfrm>
            <a:prstGeom prst="rect">
              <a:avLst/>
            </a:prstGeom>
          </p:spPr>
          <p:txBody>
            <a:bodyPr anchor="ctr" rtlCol="false" tIns="50800" lIns="50800" bIns="50800" rIns="50800"/>
            <a:lstStyle/>
            <a:p>
              <a:pPr algn="ctr">
                <a:lnSpc>
                  <a:spcPts val="2659"/>
                </a:lnSpc>
                <a:spcBef>
                  <a:spcPct val="0"/>
                </a:spcBef>
              </a:pPr>
            </a:p>
          </p:txBody>
        </p:sp>
      </p:grpSp>
      <p:sp>
        <p:nvSpPr>
          <p:cNvPr name="AutoShape 6" id="6"/>
          <p:cNvSpPr/>
          <p:nvPr/>
        </p:nvSpPr>
        <p:spPr>
          <a:xfrm>
            <a:off x="0" y="9594948"/>
            <a:ext cx="18288000" cy="0"/>
          </a:xfrm>
          <a:prstGeom prst="line">
            <a:avLst/>
          </a:prstGeom>
          <a:ln cap="flat" w="38100">
            <a:solidFill>
              <a:srgbClr val="DD4904"/>
            </a:solidFill>
            <a:prstDash val="solid"/>
            <a:headEnd type="none" len="sm" w="sm"/>
            <a:tailEnd type="none" len="sm" w="sm"/>
          </a:ln>
        </p:spPr>
      </p:sp>
      <p:sp>
        <p:nvSpPr>
          <p:cNvPr name="TextBox 7" id="7"/>
          <p:cNvSpPr txBox="true"/>
          <p:nvPr/>
        </p:nvSpPr>
        <p:spPr>
          <a:xfrm rot="0">
            <a:off x="2715890" y="4551899"/>
            <a:ext cx="12856220" cy="844552"/>
          </a:xfrm>
          <a:prstGeom prst="rect">
            <a:avLst/>
          </a:prstGeom>
        </p:spPr>
        <p:txBody>
          <a:bodyPr anchor="t" rtlCol="false" tIns="0" lIns="0" bIns="0" rIns="0">
            <a:spAutoFit/>
          </a:bodyPr>
          <a:lstStyle/>
          <a:p>
            <a:pPr algn="ctr">
              <a:lnSpc>
                <a:spcPts val="6999"/>
              </a:lnSpc>
              <a:spcBef>
                <a:spcPct val="0"/>
              </a:spcBef>
            </a:pPr>
            <a:r>
              <a:rPr lang="en-US" b="true" sz="4999">
                <a:solidFill>
                  <a:srgbClr val="FFFFFF"/>
                </a:solidFill>
                <a:latin typeface="Montserrat Bold"/>
                <a:ea typeface="Montserrat Bold"/>
                <a:cs typeface="Montserrat Bold"/>
                <a:sym typeface="Montserrat Bold"/>
              </a:rPr>
              <a:t>Cảm ơn mọi người đã chú ý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DAG79tksdC0</dc:identifier>
  <dcterms:modified xsi:type="dcterms:W3CDTF">2011-08-01T06:04:30Z</dcterms:modified>
  <cp:revision>1</cp:revision>
  <dc:title>BTL Python</dc:title>
</cp:coreProperties>
</file>